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76" r:id="rId4"/>
    <p:sldId id="277" r:id="rId5"/>
    <p:sldId id="275" r:id="rId6"/>
    <p:sldId id="274" r:id="rId7"/>
    <p:sldId id="273" r:id="rId8"/>
    <p:sldId id="267" r:id="rId9"/>
    <p:sldId id="272" r:id="rId10"/>
    <p:sldId id="271" r:id="rId11"/>
    <p:sldId id="270" r:id="rId12"/>
    <p:sldId id="269" r:id="rId13"/>
    <p:sldId id="283" r:id="rId14"/>
    <p:sldId id="261" r:id="rId15"/>
    <p:sldId id="268" r:id="rId16"/>
    <p:sldId id="266" r:id="rId17"/>
    <p:sldId id="265" r:id="rId18"/>
    <p:sldId id="264" r:id="rId19"/>
    <p:sldId id="263" r:id="rId20"/>
    <p:sldId id="262" r:id="rId21"/>
    <p:sldId id="278" r:id="rId22"/>
    <p:sldId id="280" r:id="rId23"/>
    <p:sldId id="279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A8147-A60D-428E-8FEE-C3E69C810121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336B2-9695-4D29-B8D6-9B9A7CC22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497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336B2-9695-4D29-B8D6-9B9A7CC22EE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09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3E10-C395-DCFB-0C10-050CA9392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FC499-11D0-F0E2-D833-7B7298928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18C07-2AC5-C657-A2FB-6EBA2013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89C97-44C3-471E-E615-2D9A175C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D84D-912F-BE50-20BE-742D7AC0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70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05B2-2C8F-9A70-1A1C-4FDECF9C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1D555-07E1-B2B7-7D3E-3DD183916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E0312-DF54-832E-48FB-A470E3F0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FE41C-EA48-C4E9-4151-DA65ACAD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65F29-2708-8FAE-A811-518F2D3D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2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3DCA-36DE-FFD8-1781-907932CF1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80D4A-3089-FE4D-4BB4-B2B31395F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4C67E-C141-374A-4784-50C8AF8D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DD0DE-FA2C-CA9F-F05E-6BA601B3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13CF1-2546-AC8B-4F59-744160FF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82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6E8E-7B33-5952-0CBD-E4978F7FE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05D3-0B8C-A797-58B5-77979A9F0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21795-E4C4-9673-E976-4F869A1ED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8F27B-6860-FC83-6D50-ACF985D5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E027-B329-D4AA-B478-8A265A969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9A80E-D504-2135-8877-BE26AEB1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90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F82DD-11C8-BA55-C8FC-D863A59B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73E57-5719-F63E-2CB9-28CD4B00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5CA1B-F036-ED4E-77F0-03D6A5221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68532-CD15-043F-76AD-B788519C0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D921F-C0A3-1A45-0E4D-CA0F24FF1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CDB42B-FF00-D968-58F5-C4C36843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AF32D-F67D-1B53-4A1F-96379E68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54379-89B7-41B8-C7BF-074BC6A6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1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6F56-6BE0-AE7E-C9AE-0A7BCCDD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011B0-F439-29B6-74E6-A1D08735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F1DB2-F64F-81B4-B3C4-4424B8FB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D4DE5-C0CA-B913-B169-38147064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75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6182B-A28E-2007-3ED6-2AB2F9BA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951B5-74BE-A789-231F-D016FD94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6F6B6-EF50-820D-AD81-4352B317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32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898C-0114-F92A-8FAC-3F337726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73A6-20AE-FD5A-E7B0-3982502D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BF257-A1E5-A6C3-DF4A-14D644625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ABEDC-39AF-56D4-D788-D10E193D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D3CF4-88FF-7046-70D4-16EE105DC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A5EDB-328C-94E2-A602-7381AAA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19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C7D4-97FB-31FB-C743-826E075F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E708D-2E83-3A40-0D11-A0849411E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D2E29-3175-7D31-CB6A-6B9066A5A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2156F-E33A-EE32-0006-6565D3D4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24E51-B160-5C22-C187-66C2F3CA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C0198-A41E-DC89-F25F-7A4DAFEA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592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EADB-52CF-360E-B379-D2F8E52A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3FF1D-6EEF-0ED0-2116-053C30C6C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C845-C6E0-368E-8B26-B3A0A7CE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90230-5C6A-A895-BCAC-B039AD90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5431E-7862-A9E1-1CF6-CDBEBEB4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8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3D2FA-24C4-FDD6-9BD4-A314E86E3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FFC6C-8D00-E842-9D09-AD78BBD27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FFDF7-0491-F308-A522-B4DFA69B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6ED9A-7D32-1A84-BAE9-41A8A161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12B7-36F7-6270-A1B0-B68C156B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33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FCBA0-C46E-9C86-1F24-A5CFB2A7E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5D106-83CD-085F-87C6-F7FE142D0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7F2F0-ED55-2C23-9C84-086321F82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FBF97-6CDB-4BD9-BEA9-1D76831A17D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5A263-78EA-B3A3-545C-E7C08A79C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01828-6A2C-1C75-600F-DA4B14C6E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69195-4C43-4B2A-866D-760EECF91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26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2" descr="preencoded.png">
            <a:extLst>
              <a:ext uri="{FF2B5EF4-FFF2-40B4-BE49-F238E27FC236}">
                <a16:creationId xmlns:a16="http://schemas.microsoft.com/office/drawing/2014/main" id="{BBB35BDA-7E18-5FDE-DA2D-F022EEA3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734087"/>
            <a:ext cx="11916696" cy="1828800"/>
          </a:xfrm>
          <a:prstGeom prst="rect">
            <a:avLst/>
          </a:prstGeom>
        </p:spPr>
      </p:pic>
      <p:pic>
        <p:nvPicPr>
          <p:cNvPr id="1028" name="Picture 4" descr="Lungs Wallpapers - Top Free Lungs Backgrounds - WallpaperAccess">
            <a:extLst>
              <a:ext uri="{FF2B5EF4-FFF2-40B4-BE49-F238E27FC236}">
                <a16:creationId xmlns:a16="http://schemas.microsoft.com/office/drawing/2014/main" id="{A4CA993D-6217-6A22-87AB-F2E8215B0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7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F2F398-01D1-A309-800D-0EC0B2707838}"/>
              </a:ext>
            </a:extLst>
          </p:cNvPr>
          <p:cNvSpPr txBox="1"/>
          <p:nvPr/>
        </p:nvSpPr>
        <p:spPr>
          <a:xfrm>
            <a:off x="137652" y="4542503"/>
            <a:ext cx="50537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Sudarshan – 25064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Sathvik – 25057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Vivek – 25063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Naren - 25034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CF3FF-C582-E866-641E-943BB014039E}"/>
              </a:ext>
            </a:extLst>
          </p:cNvPr>
          <p:cNvSpPr txBox="1"/>
          <p:nvPr/>
        </p:nvSpPr>
        <p:spPr>
          <a:xfrm>
            <a:off x="0" y="448158"/>
            <a:ext cx="1219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INTEGRATIVE MACHINE LEARNING APPROACH FOR FORECASTING LUNG CANCER   </a:t>
            </a:r>
          </a:p>
          <a:p>
            <a:r>
              <a:rPr lang="en-US" sz="4400" b="1" u="sng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CHEMOSENSITIVITY </a:t>
            </a:r>
            <a:endParaRPr lang="en-US" sz="4400" b="1" u="sng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29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359B-9E0A-D156-8313-7FC01CE5B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309" y="129305"/>
            <a:ext cx="7654475" cy="102106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Problem Statement : -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FFD9F070-E63F-BB80-4EC2-038F9C317A67}"/>
              </a:ext>
            </a:extLst>
          </p:cNvPr>
          <p:cNvSpPr/>
          <p:nvPr/>
        </p:nvSpPr>
        <p:spPr>
          <a:xfrm>
            <a:off x="363793" y="4891549"/>
            <a:ext cx="11464413" cy="1248696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a robust and accurate machine learning model capable of predicting the chemosensitivity of lung cancer patients.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67D3A37E-2114-DD67-22D2-2428D2F47417}"/>
              </a:ext>
            </a:extLst>
          </p:cNvPr>
          <p:cNvSpPr/>
          <p:nvPr/>
        </p:nvSpPr>
        <p:spPr>
          <a:xfrm>
            <a:off x="368710" y="1617407"/>
            <a:ext cx="11464413" cy="1248696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bg1"/>
                </a:solidFill>
              </a:rPr>
              <a:t>The chemotherapy response will be different for each person  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0AC46606-D75D-2F2B-3B4B-A1994D25190D}"/>
              </a:ext>
            </a:extLst>
          </p:cNvPr>
          <p:cNvSpPr/>
          <p:nvPr/>
        </p:nvSpPr>
        <p:spPr>
          <a:xfrm>
            <a:off x="363793" y="3254478"/>
            <a:ext cx="11464413" cy="1248696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 significant number of patients with Extensive-Stage Small Cell Lung Cancer (ES-SCLC) initially respond well to chemotherapy, but their tumors quickly become resistant, leading to recurrence and death.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1251198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02C47-79C6-934E-D6DD-C00A2225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2DCCD6-FA5D-8993-5FF3-5080D92F7D5C}"/>
              </a:ext>
            </a:extLst>
          </p:cNvPr>
          <p:cNvSpPr/>
          <p:nvPr/>
        </p:nvSpPr>
        <p:spPr>
          <a:xfrm>
            <a:off x="108155" y="5506065"/>
            <a:ext cx="11887200" cy="10028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B98F18-FE44-5866-3EA2-53427F1420E8}"/>
              </a:ext>
            </a:extLst>
          </p:cNvPr>
          <p:cNvSpPr/>
          <p:nvPr/>
        </p:nvSpPr>
        <p:spPr>
          <a:xfrm>
            <a:off x="108155" y="3048000"/>
            <a:ext cx="11887200" cy="2243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8D0B91-1D94-BDD8-7301-294CEF1B5EF3}"/>
              </a:ext>
            </a:extLst>
          </p:cNvPr>
          <p:cNvSpPr/>
          <p:nvPr/>
        </p:nvSpPr>
        <p:spPr>
          <a:xfrm>
            <a:off x="108155" y="1651819"/>
            <a:ext cx="11887200" cy="1101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4DDDE-3F12-E28D-E260-B6C2F776B624}"/>
              </a:ext>
            </a:extLst>
          </p:cNvPr>
          <p:cNvSpPr txBox="1"/>
          <p:nvPr/>
        </p:nvSpPr>
        <p:spPr>
          <a:xfrm>
            <a:off x="108155" y="1576099"/>
            <a:ext cx="1197569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3200" dirty="0">
                <a:solidFill>
                  <a:schemeClr val="bg1"/>
                </a:solidFill>
              </a:rPr>
              <a:t>Taking a pre-processed  dataset  from G.E.O (gene expression omnibus) .</a:t>
            </a:r>
          </a:p>
          <a:p>
            <a:pPr marL="342900" indent="-342900">
              <a:buFont typeface="+mj-lt"/>
              <a:buAutoNum type="arabicParenR"/>
            </a:pPr>
            <a:endParaRPr lang="en-US" sz="3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3200" dirty="0">
                <a:solidFill>
                  <a:schemeClr val="bg1"/>
                </a:solidFill>
              </a:rPr>
              <a:t>Train 3 Machine Learning model’s  :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   (</a:t>
            </a:r>
            <a:r>
              <a:rPr lang="en-US" sz="3200" dirty="0" err="1">
                <a:solidFill>
                  <a:schemeClr val="bg1"/>
                </a:solidFill>
              </a:rPr>
              <a:t>i</a:t>
            </a:r>
            <a:r>
              <a:rPr lang="en-US" sz="3200" dirty="0">
                <a:solidFill>
                  <a:schemeClr val="bg1"/>
                </a:solidFill>
              </a:rPr>
              <a:t>) Hybrid model [R.F. + S.V.M]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   (ii)</a:t>
            </a:r>
            <a:r>
              <a:rPr lang="en-US" sz="3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Gradient Boosting Machine[G.B.M]</a:t>
            </a:r>
          </a:p>
          <a:p>
            <a:r>
              <a:rPr lang="en-US" sz="32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</a:rPr>
              <a:t>     (iii)</a:t>
            </a:r>
            <a:r>
              <a:rPr lang="en-US" sz="3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LASSO [</a:t>
            </a:r>
            <a:r>
              <a:rPr lang="en-US" sz="3200" dirty="0">
                <a:solidFill>
                  <a:schemeClr val="bg1"/>
                </a:solidFill>
              </a:rPr>
              <a:t>Least Absolute Shrinkage and Selection Operator ]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3)Compare these ML model’s based on the accuracy and precision  graph.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                  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dirty="0">
                <a:solidFill>
                  <a:schemeClr val="bg1"/>
                </a:solidFill>
              </a:rPr>
              <a:t>         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1E51D-FC2A-F13C-CFA3-AAC8C94F7F14}"/>
              </a:ext>
            </a:extLst>
          </p:cNvPr>
          <p:cNvSpPr txBox="1"/>
          <p:nvPr/>
        </p:nvSpPr>
        <p:spPr>
          <a:xfrm>
            <a:off x="108155" y="218456"/>
            <a:ext cx="8826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</a:rPr>
              <a:t>Objective : -  </a:t>
            </a:r>
            <a:endParaRPr lang="en-IN" sz="6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284366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E441B-2BC9-5046-D655-B0FB7B4F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32FA439-B632-B8E8-6C35-05C0B16F14C9}"/>
              </a:ext>
            </a:extLst>
          </p:cNvPr>
          <p:cNvSpPr txBox="1"/>
          <p:nvPr/>
        </p:nvSpPr>
        <p:spPr>
          <a:xfrm>
            <a:off x="88490" y="-9832"/>
            <a:ext cx="8101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</a:rPr>
              <a:t>Introduction : - </a:t>
            </a:r>
            <a:endParaRPr lang="en-IN" sz="6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2CC3760-987A-B959-E603-80DA723CB3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8490" y="1098164"/>
            <a:ext cx="11810285" cy="5724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Challenge of Resolution: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Extensive-Stage Small Cell Lung Cancer (ES-SCLC)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characterized by rapid development of acquired chemo-resistance, which current bulk-level genomic analysis fails to accurately predict.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Leveraging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Our approach tackles this complexity by utilizing data. This 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transcriptomic resolution at the individual cell level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allowing us to identify distinct, rare cell subpopulations  that drive the differential chemotherapy response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Machine Learning Objective: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core challenge is extracting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minimal, robust, and   predictive gene signature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this high-dimensional single-cell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Model Implementation: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We employ the hybrid model [R.F. + S.V.M] ,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LASSO , G.B.M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24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Gradient Boosting Machine</a:t>
            </a:r>
            <a:r>
              <a:rPr lang="en-US" sz="20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objective of the model is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  To compare and find the  best model for the chemosensitivity predictions.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parsimonious prognostic signature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that accurately classifies patients into response categories (PR or PD) based on the gene expression profile of the critical cell subtypes identified via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scRNA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-seq clustering.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EFEC5-63F8-A60B-2344-175283BEC6B6}"/>
              </a:ext>
            </a:extLst>
          </p:cNvPr>
          <p:cNvSpPr txBox="1"/>
          <p:nvPr/>
        </p:nvSpPr>
        <p:spPr>
          <a:xfrm>
            <a:off x="13282729" y="3529598"/>
            <a:ext cx="7970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" u="sng" dirty="0">
                <a:solidFill>
                  <a:schemeClr val="bg1"/>
                </a:solidFill>
              </a:rPr>
              <a:t>Meaning :</a:t>
            </a:r>
          </a:p>
          <a:p>
            <a:r>
              <a:rPr lang="en-US" sz="200" dirty="0">
                <a:solidFill>
                  <a:schemeClr val="bg1"/>
                </a:solidFill>
              </a:rPr>
              <a:t>True Positive : Model correctly predicts disease present</a:t>
            </a:r>
          </a:p>
          <a:p>
            <a:r>
              <a:rPr lang="en-US" sz="200" dirty="0">
                <a:solidFill>
                  <a:schemeClr val="bg1"/>
                </a:solidFill>
              </a:rPr>
              <a:t>True Negative : Model correctly predicts no disease</a:t>
            </a:r>
          </a:p>
          <a:p>
            <a:r>
              <a:rPr lang="en-US" sz="200" dirty="0">
                <a:solidFill>
                  <a:schemeClr val="bg1"/>
                </a:solidFill>
              </a:rPr>
              <a:t>False Positive : Model predicts disease, but person is healthy</a:t>
            </a:r>
          </a:p>
          <a:p>
            <a:r>
              <a:rPr lang="en-US" sz="200" dirty="0">
                <a:solidFill>
                  <a:schemeClr val="bg1"/>
                </a:solidFill>
              </a:rPr>
              <a:t>False Negative : Model predicts no disease, but person actually has disease</a:t>
            </a:r>
            <a:r>
              <a:rPr lang="en-US" sz="1000" dirty="0">
                <a:solidFill>
                  <a:schemeClr val="bg1"/>
                </a:solidFill>
              </a:rPr>
              <a:t>.</a:t>
            </a:r>
            <a:endParaRPr lang="en-IN" sz="1000" dirty="0">
              <a:solidFill>
                <a:schemeClr val="bg1"/>
              </a:solidFill>
            </a:endParaRPr>
          </a:p>
        </p:txBody>
      </p:sp>
      <p:pic>
        <p:nvPicPr>
          <p:cNvPr id="4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1F3461-5BA7-A739-44FC-E3260C8B7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7129" y="5211449"/>
            <a:ext cx="1142498" cy="86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5840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C146C-96BA-C412-DD3D-DC9D39A9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599D0-488E-0DD9-77DF-D17938A2E73C}"/>
              </a:ext>
            </a:extLst>
          </p:cNvPr>
          <p:cNvSpPr txBox="1"/>
          <p:nvPr/>
        </p:nvSpPr>
        <p:spPr>
          <a:xfrm>
            <a:off x="104172" y="81023"/>
            <a:ext cx="115862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50000"/>
                  </a:schemeClr>
                </a:solidFill>
              </a:rPr>
              <a:t>Things We Are Going To Consider To Decide The Final Model : - </a:t>
            </a:r>
            <a:endParaRPr lang="en-IN" sz="4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B9C4CB-F656-FD0A-6F5A-638B9780C532}"/>
              </a:ext>
            </a:extLst>
          </p:cNvPr>
          <p:cNvSpPr/>
          <p:nvPr/>
        </p:nvSpPr>
        <p:spPr>
          <a:xfrm>
            <a:off x="297083" y="1805651"/>
            <a:ext cx="5694745" cy="43752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8FFB4F-2DAC-958B-367D-92B19D8B6C6E}"/>
              </a:ext>
            </a:extLst>
          </p:cNvPr>
          <p:cNvSpPr txBox="1"/>
          <p:nvPr/>
        </p:nvSpPr>
        <p:spPr>
          <a:xfrm>
            <a:off x="6282159" y="2285106"/>
            <a:ext cx="56947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</a:rPr>
              <a:t>Meaning :</a:t>
            </a:r>
          </a:p>
          <a:p>
            <a:r>
              <a:rPr lang="en-US" sz="2400" dirty="0">
                <a:solidFill>
                  <a:schemeClr val="bg1"/>
                </a:solidFill>
              </a:rPr>
              <a:t>True Positive : Model correctly predicts disease present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True Negative : Model correctly predicts no disease</a:t>
            </a:r>
          </a:p>
          <a:p>
            <a:r>
              <a:rPr lang="en-US" sz="2400" dirty="0">
                <a:solidFill>
                  <a:schemeClr val="bg1"/>
                </a:solidFill>
              </a:rPr>
              <a:t>False Positive : Model predicts disease, but person is healthy</a:t>
            </a:r>
          </a:p>
          <a:p>
            <a:r>
              <a:rPr lang="en-US" sz="2400" dirty="0">
                <a:solidFill>
                  <a:schemeClr val="bg1"/>
                </a:solidFill>
              </a:rPr>
              <a:t>False Negative : Model predicts no disease, but person actually has disease.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2" descr="Machine Learning Python Code ภาพถ่ายสต็อก | Adobe Stock">
            <a:extLst>
              <a:ext uri="{FF2B5EF4-FFF2-40B4-BE49-F238E27FC236}">
                <a16:creationId xmlns:a16="http://schemas.microsoft.com/office/drawing/2014/main" id="{4778A82E-2D6F-D2C2-6D1B-CE83870F1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850" y="5436275"/>
            <a:ext cx="792678" cy="53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5B6A3A-80CF-4740-7195-5A4BA9C18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6546" y="258002"/>
            <a:ext cx="553298" cy="260050"/>
          </a:xfrm>
          <a:prstGeom prst="rect">
            <a:avLst/>
          </a:prstGeom>
        </p:spPr>
      </p:pic>
      <p:pic>
        <p:nvPicPr>
          <p:cNvPr id="9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5DA4DF-B1EC-262F-B666-C8F1319BE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41" y="2104455"/>
            <a:ext cx="5014627" cy="377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80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E7499-CD56-8086-7B83-BD09C8B4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F5B2B-3466-DF2F-6992-A99D72A8A6AE}"/>
              </a:ext>
            </a:extLst>
          </p:cNvPr>
          <p:cNvSpPr txBox="1"/>
          <p:nvPr/>
        </p:nvSpPr>
        <p:spPr>
          <a:xfrm>
            <a:off x="0" y="0"/>
            <a:ext cx="10347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</a:rPr>
              <a:t>Methodology : - </a:t>
            </a:r>
            <a:endParaRPr lang="en-IN" sz="6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D8B93-C694-0437-6BBF-27A824BE07EB}"/>
              </a:ext>
            </a:extLst>
          </p:cNvPr>
          <p:cNvSpPr txBox="1"/>
          <p:nvPr/>
        </p:nvSpPr>
        <p:spPr>
          <a:xfrm>
            <a:off x="0" y="1741481"/>
            <a:ext cx="651654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Hybrid model ,  Lasoo  and  G.B.M.   we have a downloaded a C.S.V file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As they are already pre-processed dataset , we are using it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Then we train them , test them , validate them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Feature extraction , we get the confusion graphs , accuracy comparison graphs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By comparing the overall accuracy, we decide the final ML to be used in the research process . </a:t>
            </a:r>
          </a:p>
        </p:txBody>
      </p:sp>
      <p:pic>
        <p:nvPicPr>
          <p:cNvPr id="4098" name="Picture 2" descr="Machine Learning Python Code ภาพถ่ายสต็อก | Adobe Stock">
            <a:extLst>
              <a:ext uri="{FF2B5EF4-FFF2-40B4-BE49-F238E27FC236}">
                <a16:creationId xmlns:a16="http://schemas.microsoft.com/office/drawing/2014/main" id="{EB75EC35-4130-8954-50ED-EA53A5C55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88" y="3302405"/>
            <a:ext cx="5092861" cy="340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840F2A-3E26-9A3B-9CB2-D03BCCF12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194" y="287367"/>
            <a:ext cx="5619209" cy="26410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4F8675-4D20-5440-0F77-CA2F10CAC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011" y="1015663"/>
            <a:ext cx="1841073" cy="17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D0C5A-B27C-BC4C-22F3-D00D2A81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A88AE3-707F-2167-09B2-D522C572392C}"/>
              </a:ext>
            </a:extLst>
          </p:cNvPr>
          <p:cNvSpPr txBox="1"/>
          <p:nvPr/>
        </p:nvSpPr>
        <p:spPr>
          <a:xfrm>
            <a:off x="108155" y="88490"/>
            <a:ext cx="8121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</a:rPr>
              <a:t>DATASET : - </a:t>
            </a:r>
            <a:endParaRPr lang="en-IN" sz="6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9E556-299C-40DA-D453-283B1950B0BB}"/>
              </a:ext>
            </a:extLst>
          </p:cNvPr>
          <p:cNvSpPr txBox="1"/>
          <p:nvPr/>
        </p:nvSpPr>
        <p:spPr>
          <a:xfrm>
            <a:off x="108155" y="1209368"/>
            <a:ext cx="59878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data set is the csv file, it is synthetic data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that contains the information related to the patients with lung cancer.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we directly used the “.read” , command for the deploying the ML models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 used the same dataset for the three models , for training,  testing ,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B8554-39BB-BE2E-AB2B-72AE8EC6C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747" y="1391345"/>
            <a:ext cx="4134427" cy="386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64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3E31C-7404-5DA4-501F-29F3E9CD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74C1C-D1DC-F5A6-8AF1-DE9EC15E8217}"/>
              </a:ext>
            </a:extLst>
          </p:cNvPr>
          <p:cNvSpPr txBox="1"/>
          <p:nvPr/>
        </p:nvSpPr>
        <p:spPr>
          <a:xfrm>
            <a:off x="88490" y="88490"/>
            <a:ext cx="11139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Hybrid model function explanation  : -</a:t>
            </a:r>
            <a:endParaRPr lang="en-IN" sz="3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EF546-D884-AF35-32A0-8C8BEF5822CB}"/>
              </a:ext>
            </a:extLst>
          </p:cNvPr>
          <p:cNvSpPr txBox="1"/>
          <p:nvPr/>
        </p:nvSpPr>
        <p:spPr>
          <a:xfrm>
            <a:off x="0" y="817212"/>
            <a:ext cx="10530349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is basically combination of the 2 most powerful ML models i.e. random forest and </a:t>
            </a:r>
            <a:r>
              <a:rPr lang="en-US" sz="2400" dirty="0" err="1">
                <a:solidFill>
                  <a:schemeClr val="bg1"/>
                </a:solidFill>
              </a:rPr>
              <a:t>svm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Work of random forest : - </a:t>
            </a:r>
            <a:r>
              <a:rPr lang="en-US" sz="2400" dirty="0">
                <a:solidFill>
                  <a:schemeClr val="bg1"/>
                </a:solidFill>
              </a:rPr>
              <a:t>It combines the results of many individual </a:t>
            </a:r>
            <a:r>
              <a:rPr lang="en-US" sz="2400" b="1" dirty="0">
                <a:solidFill>
                  <a:schemeClr val="bg1"/>
                </a:solidFill>
              </a:rPr>
              <a:t>Decision Trees</a:t>
            </a:r>
            <a:r>
              <a:rPr lang="en-US" sz="2400" dirty="0">
                <a:solidFill>
                  <a:schemeClr val="bg1"/>
                </a:solidFill>
              </a:rPr>
              <a:t> to make a final, more accurate, and stable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Work of S.V.M : - For classification, it finds the best </a:t>
            </a:r>
            <a:r>
              <a:rPr lang="en-US" sz="2400" b="1" dirty="0">
                <a:solidFill>
                  <a:schemeClr val="bg1"/>
                </a:solidFill>
              </a:rPr>
              <a:t>hyperplane</a:t>
            </a:r>
            <a:r>
              <a:rPr lang="en-US" sz="2400" dirty="0">
                <a:solidFill>
                  <a:schemeClr val="bg1"/>
                </a:solidFill>
              </a:rPr>
              <a:t> that maximally separates data points belonging to different classes in a high-dimensional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It learns the </a:t>
            </a:r>
            <a:r>
              <a:rPr lang="en-US" sz="2400" b="1" dirty="0">
                <a:solidFill>
                  <a:schemeClr val="bg1"/>
                </a:solidFill>
              </a:rPr>
              <a:t>optimal weighting and combination strategy</a:t>
            </a:r>
            <a:r>
              <a:rPr lang="en-US" sz="2400" dirty="0">
                <a:solidFill>
                  <a:schemeClr val="bg1"/>
                </a:solidFill>
              </a:rPr>
              <a:t> for the base models. It essentially learns </a:t>
            </a:r>
            <a:r>
              <a:rPr lang="en-US" sz="2400" i="1" dirty="0">
                <a:solidFill>
                  <a:schemeClr val="bg1"/>
                </a:solidFill>
              </a:rPr>
              <a:t>when to trust</a:t>
            </a:r>
            <a:r>
              <a:rPr lang="en-US" sz="2400" dirty="0">
                <a:solidFill>
                  <a:schemeClr val="bg1"/>
                </a:solidFill>
              </a:rPr>
              <a:t> the R.F. score and </a:t>
            </a:r>
            <a:r>
              <a:rPr lang="en-US" sz="2400" i="1" dirty="0">
                <a:solidFill>
                  <a:schemeClr val="bg1"/>
                </a:solidFill>
              </a:rPr>
              <a:t>when to trust</a:t>
            </a:r>
            <a:r>
              <a:rPr lang="en-US" sz="2400" dirty="0">
                <a:solidFill>
                  <a:schemeClr val="bg1"/>
                </a:solidFill>
              </a:rPr>
              <a:t> the S.V.M.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combined work of the these models :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R.F. makes a prediction by having </a:t>
            </a:r>
            <a:r>
              <a:rPr lang="en-US" sz="2400" b="1" dirty="0">
                <a:solidFill>
                  <a:schemeClr val="bg1"/>
                </a:solidFill>
              </a:rPr>
              <a:t>many models (trees) vote</a:t>
            </a:r>
            <a:r>
              <a:rPr lang="en-US" sz="2400" dirty="0">
                <a:solidFill>
                  <a:schemeClr val="bg1"/>
                </a:solidFill>
              </a:rPr>
              <a:t>. We could say it's the model that uses </a:t>
            </a:r>
            <a:r>
              <a:rPr lang="en-US" sz="2400" b="1" dirty="0">
                <a:solidFill>
                  <a:schemeClr val="bg1"/>
                </a:solidFill>
              </a:rPr>
              <a:t>collective intelligence</a:t>
            </a:r>
            <a:r>
              <a:rPr lang="en-US" sz="2400" dirty="0">
                <a:solidFill>
                  <a:schemeClr val="bg1"/>
                </a:solidFill>
              </a:rPr>
              <a:t> to decide on the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S.V.M. makes a prediction by finding the </a:t>
            </a:r>
            <a:r>
              <a:rPr lang="en-US" sz="2400" b="1" dirty="0">
                <a:solidFill>
                  <a:schemeClr val="bg1"/>
                </a:solidFill>
              </a:rPr>
              <a:t>optimal boundary</a:t>
            </a:r>
            <a:r>
              <a:rPr lang="en-US" sz="2400" dirty="0">
                <a:solidFill>
                  <a:schemeClr val="bg1"/>
                </a:solidFill>
              </a:rPr>
              <a:t> that best separates the data points</a:t>
            </a:r>
          </a:p>
        </p:txBody>
      </p:sp>
    </p:spTree>
    <p:extLst>
      <p:ext uri="{BB962C8B-B14F-4D97-AF65-F5344CB8AC3E}">
        <p14:creationId xmlns:p14="http://schemas.microsoft.com/office/powerpoint/2010/main" val="3154663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D5C24-B886-A51F-165C-8092033B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E5E84-C0B8-CF96-DB4F-3694324A3CEC}"/>
              </a:ext>
            </a:extLst>
          </p:cNvPr>
          <p:cNvSpPr txBox="1"/>
          <p:nvPr/>
        </p:nvSpPr>
        <p:spPr>
          <a:xfrm>
            <a:off x="0" y="147484"/>
            <a:ext cx="83574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5">
                    <a:lumMod val="50000"/>
                  </a:schemeClr>
                </a:solidFill>
              </a:rPr>
              <a:t>1.Hybrid model [R.F. + S.V.M ] : -  </a:t>
            </a:r>
            <a:endParaRPr lang="en-IN" sz="4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2BD3B-37B0-5793-969C-58830909D050}"/>
              </a:ext>
            </a:extLst>
          </p:cNvPr>
          <p:cNvSpPr txBox="1"/>
          <p:nvPr/>
        </p:nvSpPr>
        <p:spPr>
          <a:xfrm>
            <a:off x="0" y="916925"/>
            <a:ext cx="7443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code for the hybrid model , that will generate the output including the graphs .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81E3D-6D64-B0AB-3B22-063E8A8B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7922"/>
            <a:ext cx="4344984" cy="5110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A0793-9035-E7ED-622C-E44F3688C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984" y="1747922"/>
            <a:ext cx="4131325" cy="5110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3179E-4551-9304-76A8-3763B047A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309" y="0"/>
            <a:ext cx="3715691" cy="3716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4AE172-140C-E259-2F66-7A88A4440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308" y="3675966"/>
            <a:ext cx="3715691" cy="31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33DB9-1083-CEE8-FBCD-15D541ED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CB86DD-F364-91FC-B5FC-580FED7F160F}"/>
              </a:ext>
            </a:extLst>
          </p:cNvPr>
          <p:cNvSpPr txBox="1"/>
          <p:nvPr/>
        </p:nvSpPr>
        <p:spPr>
          <a:xfrm>
            <a:off x="117987" y="137652"/>
            <a:ext cx="6646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THE FEATURES/graphs OF THE HYBRID MODEL :- </a:t>
            </a:r>
            <a:endParaRPr lang="en-IN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238D8-31AB-812D-9578-03005BE83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41" y="1798205"/>
            <a:ext cx="7344800" cy="724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37B891-434C-CD86-59AD-363934A10146}"/>
              </a:ext>
            </a:extLst>
          </p:cNvPr>
          <p:cNvSpPr txBox="1"/>
          <p:nvPr/>
        </p:nvSpPr>
        <p:spPr>
          <a:xfrm>
            <a:off x="1929605" y="3044670"/>
            <a:ext cx="759547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For the output , we got 6 graphs were generated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3 confusion matrices , 2 AUC graphs , 1 ROC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The 2 confusion matrix are of stacking and S.V.M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AS the accuracy is 100% , we got straight lines in AUC graphs.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88519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47924-C75F-D2F8-CCC2-83B11B70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3031D6-315E-445C-8F5A-38B3E09FA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5" y="138383"/>
            <a:ext cx="4210131" cy="28294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B30B8D-4E79-E10B-C110-663E44D67079}"/>
              </a:ext>
            </a:extLst>
          </p:cNvPr>
          <p:cNvSpPr txBox="1"/>
          <p:nvPr/>
        </p:nvSpPr>
        <p:spPr>
          <a:xfrm>
            <a:off x="628577" y="3083550"/>
            <a:ext cx="333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Hybrid model confusion matrix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10FFF-2C8C-D0A2-3CF5-D3FDAAC9F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220" y="138383"/>
            <a:ext cx="4145871" cy="2899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860D87-B496-5891-10EC-148C34653F09}"/>
              </a:ext>
            </a:extLst>
          </p:cNvPr>
          <p:cNvSpPr txBox="1"/>
          <p:nvPr/>
        </p:nvSpPr>
        <p:spPr>
          <a:xfrm>
            <a:off x="8614741" y="3059668"/>
            <a:ext cx="2567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S.V.M confusion matrix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D434DB-CF5A-4E7C-FE83-817C8D2E1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66" y="3440476"/>
            <a:ext cx="3499668" cy="29991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CF2E64-CC24-87BF-6406-E4C4CCB0208D}"/>
              </a:ext>
            </a:extLst>
          </p:cNvPr>
          <p:cNvSpPr txBox="1"/>
          <p:nvPr/>
        </p:nvSpPr>
        <p:spPr>
          <a:xfrm>
            <a:off x="799805" y="6488668"/>
            <a:ext cx="299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stacking confusion matrix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E00606-8311-79B1-3C2E-C28AB18244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8345" y="3083550"/>
            <a:ext cx="1824633" cy="14459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8715F9-F072-52BB-EF2F-0A57D471E7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5712" y="3083550"/>
            <a:ext cx="1854618" cy="14459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0C1D8C-CE46-55D4-F974-5DD0AEB4A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353" y="3403613"/>
            <a:ext cx="4145871" cy="30360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CEE4A7-7199-E1B3-2C40-320A0B7A69A3}"/>
              </a:ext>
            </a:extLst>
          </p:cNvPr>
          <p:cNvSpPr txBox="1"/>
          <p:nvPr/>
        </p:nvSpPr>
        <p:spPr>
          <a:xfrm>
            <a:off x="8155357" y="6488668"/>
            <a:ext cx="414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Random forest confusion matrix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36524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DCBBF-95C8-5211-E164-8733D762F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9716F-A198-7F80-1AD6-AC825EA16CF8}"/>
              </a:ext>
            </a:extLst>
          </p:cNvPr>
          <p:cNvSpPr txBox="1"/>
          <p:nvPr/>
        </p:nvSpPr>
        <p:spPr>
          <a:xfrm>
            <a:off x="122903" y="300194"/>
            <a:ext cx="1194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Area under the curve graph and ROC  graph of S.V.M : - </a:t>
            </a:r>
            <a:endParaRPr lang="en-IN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7756D5-A31C-2513-81AB-1FB13A7AD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88" y="1336593"/>
            <a:ext cx="5007874" cy="39685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312632-E53B-F1A2-3F13-B32C3EC09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788" y="1336593"/>
            <a:ext cx="5090170" cy="39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36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D0EC6-E1BA-FA73-31F2-F8ED6DC9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79F01-F937-D5AF-B5E0-A49F5880BB00}"/>
              </a:ext>
            </a:extLst>
          </p:cNvPr>
          <p:cNvSpPr txBox="1"/>
          <p:nvPr/>
        </p:nvSpPr>
        <p:spPr>
          <a:xfrm>
            <a:off x="122903" y="172873"/>
            <a:ext cx="1194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Area under the curve graph and ROC  graph of R.F. : - </a:t>
            </a:r>
            <a:endParaRPr lang="en-IN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295798-6A9F-B665-05D8-6BEE6C0DE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139" y="1444748"/>
            <a:ext cx="5090170" cy="39685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A3EC15-4A46-F796-9A0B-9F8446B84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23" y="1444748"/>
            <a:ext cx="5007874" cy="39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54736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49E7F-DEF2-C864-0A98-EDB08A239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302E-BE40-6D8B-1ADF-E00CF0FC3387}"/>
              </a:ext>
            </a:extLst>
          </p:cNvPr>
          <p:cNvSpPr txBox="1"/>
          <p:nvPr/>
        </p:nvSpPr>
        <p:spPr>
          <a:xfrm>
            <a:off x="0" y="108155"/>
            <a:ext cx="11749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The implementation/accuracy/f1-score/precision  of  hybrid model : -</a:t>
            </a:r>
            <a:endParaRPr lang="en-IN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5CC85-45BD-3E8F-850C-2CEB788D5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" y="833698"/>
            <a:ext cx="6223819" cy="5766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2710D8-E749-70D4-7D60-5F0E104D7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626" y="833698"/>
            <a:ext cx="5456904" cy="576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B5670-2AF3-094A-03DF-0F9198F8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F06AD9-82D7-B650-8E34-13E057888FD0}"/>
              </a:ext>
            </a:extLst>
          </p:cNvPr>
          <p:cNvSpPr txBox="1"/>
          <p:nvPr/>
        </p:nvSpPr>
        <p:spPr>
          <a:xfrm>
            <a:off x="167148" y="137652"/>
            <a:ext cx="11739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LASSO model function explanation :- </a:t>
            </a:r>
            <a:endParaRPr lang="en-IN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69617-8306-86F5-EA89-7E5A9FFBD0ED}"/>
              </a:ext>
            </a:extLst>
          </p:cNvPr>
          <p:cNvSpPr txBox="1"/>
          <p:nvPr/>
        </p:nvSpPr>
        <p:spPr>
          <a:xfrm>
            <a:off x="-68826" y="292906"/>
            <a:ext cx="11906865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LASSO (Least Absolute Shrinkage and Selection Operator)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LASSO is a type of </a:t>
            </a:r>
            <a:r>
              <a:rPr lang="en-US" sz="2400" b="1" dirty="0">
                <a:solidFill>
                  <a:schemeClr val="bg1"/>
                </a:solidFill>
              </a:rPr>
              <a:t>Linear Regression model</a:t>
            </a:r>
            <a:r>
              <a:rPr lang="en-US" sz="2400" dirty="0">
                <a:solidFill>
                  <a:schemeClr val="bg1"/>
                </a:solidFill>
              </a:rPr>
              <a:t> that incorporates a </a:t>
            </a:r>
            <a:r>
              <a:rPr lang="en-US" sz="2400" b="1" dirty="0">
                <a:solidFill>
                  <a:schemeClr val="bg1"/>
                </a:solidFill>
              </a:rPr>
              <a:t>regularization penalty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What it does:</a:t>
            </a:r>
            <a:r>
              <a:rPr lang="en-US" sz="2400" dirty="0">
                <a:solidFill>
                  <a:schemeClr val="bg1"/>
                </a:solidFill>
              </a:rPr>
              <a:t> It fits a linear model to the data while simultaneously </a:t>
            </a:r>
            <a:r>
              <a:rPr lang="en-US" sz="2400" b="1" dirty="0">
                <a:solidFill>
                  <a:schemeClr val="bg1"/>
                </a:solidFill>
              </a:rPr>
              <a:t>shrinking</a:t>
            </a:r>
            <a:r>
              <a:rPr lang="en-US" sz="2400" dirty="0">
                <a:solidFill>
                  <a:schemeClr val="bg1"/>
                </a:solidFill>
              </a:rPr>
              <a:t> the model's coefficients and </a:t>
            </a:r>
            <a:r>
              <a:rPr lang="en-US" sz="2400" b="1" dirty="0">
                <a:solidFill>
                  <a:schemeClr val="bg1"/>
                </a:solidFill>
              </a:rPr>
              <a:t>automatically selecting the most important features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How it works (The Core Idea):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It minimizes the standard sum of squared errors (the loss function).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It adds a </a:t>
            </a:r>
            <a:r>
              <a:rPr lang="en-US" sz="2400" b="1" dirty="0">
                <a:solidFill>
                  <a:schemeClr val="bg1"/>
                </a:solidFill>
              </a:rPr>
              <a:t>penalty term</a:t>
            </a:r>
            <a:r>
              <a:rPr lang="en-US" sz="2400" dirty="0">
                <a:solidFill>
                  <a:schemeClr val="bg1"/>
                </a:solidFill>
              </a:rPr>
              <a:t> based on the </a:t>
            </a:r>
            <a:r>
              <a:rPr lang="en-US" sz="2400" b="1" dirty="0">
                <a:solidFill>
                  <a:schemeClr val="bg1"/>
                </a:solidFill>
              </a:rPr>
              <a:t>absolute value</a:t>
            </a:r>
            <a:r>
              <a:rPr lang="en-US" sz="2400" dirty="0">
                <a:solidFill>
                  <a:schemeClr val="bg1"/>
                </a:solidFill>
              </a:rPr>
              <a:t> of the size of the coefficients (this is known as </a:t>
            </a:r>
            <a:r>
              <a:rPr lang="en-US" sz="2400" b="1" dirty="0">
                <a:solidFill>
                  <a:schemeClr val="bg1"/>
                </a:solidFill>
              </a:rPr>
              <a:t>L1 Regularization</a:t>
            </a:r>
            <a:r>
              <a:rPr lang="en-US" sz="2400" dirty="0">
                <a:solidFill>
                  <a:schemeClr val="bg1"/>
                </a:solidFill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L1 penalty forces the coefficients of less important features to become </a:t>
            </a:r>
            <a:r>
              <a:rPr lang="en-US" sz="2400" b="1" dirty="0">
                <a:solidFill>
                  <a:schemeClr val="bg1"/>
                </a:solidFill>
              </a:rPr>
              <a:t>exactly zero</a:t>
            </a:r>
            <a:r>
              <a:rPr lang="en-US" sz="2400" dirty="0">
                <a:solidFill>
                  <a:schemeClr val="bg1"/>
                </a:solidFill>
              </a:rPr>
              <a:t>, effectively removing them from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Key Advantage:</a:t>
            </a:r>
            <a:r>
              <a:rPr lang="en-US" sz="2400" dirty="0">
                <a:solidFill>
                  <a:schemeClr val="bg1"/>
                </a:solidFill>
              </a:rPr>
              <a:t> It performs both </a:t>
            </a:r>
            <a:r>
              <a:rPr lang="en-US" sz="2400" b="1" dirty="0">
                <a:solidFill>
                  <a:schemeClr val="bg1"/>
                </a:solidFill>
              </a:rPr>
              <a:t>regularization</a:t>
            </a:r>
            <a:r>
              <a:rPr lang="en-US" sz="2400" dirty="0">
                <a:solidFill>
                  <a:schemeClr val="bg1"/>
                </a:solidFill>
              </a:rPr>
              <a:t> (preventing overfitting) and </a:t>
            </a:r>
            <a:r>
              <a:rPr lang="en-US" sz="2400" b="1" dirty="0">
                <a:solidFill>
                  <a:schemeClr val="bg1"/>
                </a:solidFill>
              </a:rPr>
              <a:t>feature selection</a:t>
            </a:r>
            <a:r>
              <a:rPr lang="en-US" sz="2400" dirty="0">
                <a:solidFill>
                  <a:schemeClr val="bg1"/>
                </a:solidFill>
              </a:rPr>
              <a:t> at the same time, resulting in a simpler, more robust, and highly </a:t>
            </a:r>
            <a:r>
              <a:rPr lang="en-US" sz="2400" b="1" dirty="0">
                <a:solidFill>
                  <a:schemeClr val="bg1"/>
                </a:solidFill>
              </a:rPr>
              <a:t>interpretable</a:t>
            </a:r>
            <a:r>
              <a:rPr lang="en-US" sz="2400" dirty="0">
                <a:solidFill>
                  <a:schemeClr val="bg1"/>
                </a:solidFill>
              </a:rPr>
              <a:t> model.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40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254E7-935A-477C-B173-68204927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0545AB-15A4-274C-9778-227560EB670A}"/>
              </a:ext>
            </a:extLst>
          </p:cNvPr>
          <p:cNvSpPr txBox="1"/>
          <p:nvPr/>
        </p:nvSpPr>
        <p:spPr>
          <a:xfrm>
            <a:off x="137650" y="139799"/>
            <a:ext cx="116708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LASSO [Least Absolute Shrinkage and Selection Operator ] MODEL : - 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C4768-8169-5B51-720B-DFB3D77C2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24574"/>
            <a:ext cx="3575709" cy="3296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B6A322-BC09-D4AB-A21A-B027885F0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08" y="724574"/>
            <a:ext cx="4455879" cy="3296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53B44F-E790-E53E-1F02-793CEC444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87" y="724574"/>
            <a:ext cx="4153515" cy="3296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B48058-8BFA-E1F2-8A2C-E71255157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" y="4021394"/>
            <a:ext cx="5737410" cy="28366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D3A24C-B007-46A1-4574-3A68156CE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7410" y="4021394"/>
            <a:ext cx="6447692" cy="28366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C5F9D6-2903-F4C9-1329-18AA6DF901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4582" y="2622750"/>
            <a:ext cx="1453336" cy="11626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F8E84F-3468-E950-1B98-6E277060C0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7465" y="2760402"/>
            <a:ext cx="1749645" cy="139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67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3292F-FD6D-83C4-50C3-36519B0D9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0A6E6E-61B6-16C0-00A1-351377DE3327}"/>
              </a:ext>
            </a:extLst>
          </p:cNvPr>
          <p:cNvSpPr txBox="1"/>
          <p:nvPr/>
        </p:nvSpPr>
        <p:spPr>
          <a:xfrm>
            <a:off x="117987" y="137652"/>
            <a:ext cx="6646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THE FEATURES/graphs OF THE LASSO  MODEL :- </a:t>
            </a:r>
            <a:endParaRPr lang="en-IN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5B365-BE6D-A107-7415-2168826AB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1" y="1600196"/>
            <a:ext cx="4572009" cy="36576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F3B512-3EB3-67C3-CE39-CA96670DA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74" y="1600195"/>
            <a:ext cx="457200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75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B07D6-8545-0E6B-6E20-84BF33C9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42567-56A0-AC0B-AB15-881663E59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84670"/>
            <a:ext cx="11287432" cy="52946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7B43DB-F979-F628-A85F-E572092011DD}"/>
              </a:ext>
            </a:extLst>
          </p:cNvPr>
          <p:cNvSpPr txBox="1"/>
          <p:nvPr/>
        </p:nvSpPr>
        <p:spPr>
          <a:xfrm>
            <a:off x="216309" y="265714"/>
            <a:ext cx="11326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This is the bar graph done by LASSO model :-</a:t>
            </a:r>
            <a:endParaRPr lang="en-IN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45064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688E9-0902-E07B-F79B-07B710EA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BC306-4002-7A72-A4A1-3ED04FC64DAB}"/>
              </a:ext>
            </a:extLst>
          </p:cNvPr>
          <p:cNvSpPr txBox="1"/>
          <p:nvPr/>
        </p:nvSpPr>
        <p:spPr>
          <a:xfrm>
            <a:off x="0" y="108155"/>
            <a:ext cx="11503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The implementation/accuracy/f1-score/precision  of LASSO model : -</a:t>
            </a:r>
            <a:endParaRPr lang="en-IN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3F983-3065-47A4-6D38-1DAF87DA0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67" y="1073868"/>
            <a:ext cx="11077575" cy="540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7423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2E2B5-CAA2-0F9A-7749-F72C8F96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15060-9514-C5E8-B721-66C3EC16C15A}"/>
              </a:ext>
            </a:extLst>
          </p:cNvPr>
          <p:cNvSpPr txBox="1"/>
          <p:nvPr/>
        </p:nvSpPr>
        <p:spPr>
          <a:xfrm>
            <a:off x="88490" y="88490"/>
            <a:ext cx="11139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G.B.M. function explanation  : -</a:t>
            </a:r>
            <a:endParaRPr lang="en-IN" sz="3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8B9F7A-1669-1586-E2CA-9D4768FFA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0" y="734821"/>
            <a:ext cx="10942183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What it does: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 builds a final, highly accurate prediction model by sequentially combining the predictions of many simple,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weak learner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How it works (The Core Idea):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starts with a simple initial prediction (e.g., the average value of the target).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Each subsequent new tree is trained not on the original data, but on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model learns iteratively, with each new tree correcting the previous tree's weaknesses.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final prediction is the sum of the predictions from all the sequential trees.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Key Advantage: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 focuses aggressively on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hardest-to-predict data           points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typically yields one of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highest predictive accuracies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across a wide range of tasks, particularly when training data is abundant.</a:t>
            </a:r>
          </a:p>
        </p:txBody>
      </p:sp>
    </p:spTree>
    <p:extLst>
      <p:ext uri="{BB962C8B-B14F-4D97-AF65-F5344CB8AC3E}">
        <p14:creationId xmlns:p14="http://schemas.microsoft.com/office/powerpoint/2010/main" val="3101175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AF9F3-01F7-B322-A1DB-D4683C31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4C3F1-7B97-0E3C-402A-30524DA8D2A5}"/>
              </a:ext>
            </a:extLst>
          </p:cNvPr>
          <p:cNvSpPr txBox="1"/>
          <p:nvPr/>
        </p:nvSpPr>
        <p:spPr>
          <a:xfrm>
            <a:off x="0" y="0"/>
            <a:ext cx="114473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50000"/>
                  </a:schemeClr>
                </a:solidFill>
              </a:rPr>
              <a:t>G.B.M [</a:t>
            </a:r>
            <a:r>
              <a:rPr lang="en-IN" sz="4000" dirty="0">
                <a:solidFill>
                  <a:schemeClr val="accent5">
                    <a:lumMod val="50000"/>
                  </a:schemeClr>
                </a:solidFill>
              </a:rPr>
              <a:t>Gradient Boosting Machine] model :-</a:t>
            </a:r>
            <a:r>
              <a:rPr 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en-IN" sz="40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7816E-5C62-8099-5720-42B0CFDB4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058"/>
            <a:ext cx="4273530" cy="3273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4801EE-F518-ED37-62E0-43581F39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530" y="812058"/>
            <a:ext cx="4273530" cy="32738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C806BF-A463-C352-A085-F88BBEA79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93265"/>
            <a:ext cx="4273530" cy="28647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2EB47F-4229-3FCA-F066-3241C0C05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530" y="4085863"/>
            <a:ext cx="4273530" cy="27721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4DE8C3-A5A1-9989-2F7A-9473A6815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7060" y="812058"/>
            <a:ext cx="3644940" cy="604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12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6A090-8FF6-4B66-8F3E-21738CF6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F4E56-310F-89FE-3C84-227971C7094F}"/>
              </a:ext>
            </a:extLst>
          </p:cNvPr>
          <p:cNvSpPr txBox="1"/>
          <p:nvPr/>
        </p:nvSpPr>
        <p:spPr>
          <a:xfrm>
            <a:off x="117987" y="137652"/>
            <a:ext cx="6646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THE FEATURES/graphs OF THE G.B.M  MODEL :- </a:t>
            </a:r>
            <a:endParaRPr lang="en-IN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214E8-15D2-1DA1-67F6-AD4FA2C5C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" y="1350181"/>
            <a:ext cx="5852172" cy="43891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9A5328-3EB6-CAA3-E6FC-64F81FE33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841" y="135018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181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4D047-A56E-5761-3A93-5F8E9E02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0150F8-A186-6D0F-3545-75FC04E5B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4" y="1002941"/>
            <a:ext cx="5852172" cy="4389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D1D1B7-021A-B122-769C-951CAF384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334" y="100294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99630"/>
      </p:ext>
    </p:extLst>
  </p:cSld>
  <p:clrMapOvr>
    <a:masterClrMapping/>
  </p:clrMapOvr>
  <p:transition spd="slow">
    <p:push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72538-969F-73FC-6483-247FCE48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88B0B-71CA-AC3F-7C36-A3EC5CD00FA4}"/>
              </a:ext>
            </a:extLst>
          </p:cNvPr>
          <p:cNvSpPr txBox="1"/>
          <p:nvPr/>
        </p:nvSpPr>
        <p:spPr>
          <a:xfrm>
            <a:off x="0" y="108155"/>
            <a:ext cx="11503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The implementation/accuracy/f1-score/precision  of G.B.M model : -</a:t>
            </a:r>
            <a:endParaRPr lang="en-IN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2F6D4-3CCD-9B11-F436-8449579F2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4" y="660975"/>
            <a:ext cx="11380658" cy="615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0904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65046-F01D-BA6A-2D1E-856A5C9B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2409A-BB14-8557-9274-CBB7A0BFB63E}"/>
              </a:ext>
            </a:extLst>
          </p:cNvPr>
          <p:cNvSpPr txBox="1"/>
          <p:nvPr/>
        </p:nvSpPr>
        <p:spPr>
          <a:xfrm>
            <a:off x="1078375" y="1859340"/>
            <a:ext cx="114242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5">
                    <a:lumMod val="50000"/>
                  </a:schemeClr>
                </a:solidFill>
              </a:rPr>
              <a:t>------Thank you------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6A4B4-39AD-F5BE-D5E6-69A59E139271}"/>
              </a:ext>
            </a:extLst>
          </p:cNvPr>
          <p:cNvSpPr txBox="1"/>
          <p:nvPr/>
        </p:nvSpPr>
        <p:spPr>
          <a:xfrm>
            <a:off x="231494" y="3703898"/>
            <a:ext cx="57294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By 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1.sudarshan</a:t>
            </a:r>
          </a:p>
          <a:p>
            <a:r>
              <a:rPr lang="en-US" sz="3600" dirty="0">
                <a:solidFill>
                  <a:schemeClr val="bg1"/>
                </a:solidFill>
              </a:rPr>
              <a:t>2.Sathvik</a:t>
            </a:r>
          </a:p>
          <a:p>
            <a:r>
              <a:rPr lang="en-US" sz="3600" dirty="0">
                <a:solidFill>
                  <a:schemeClr val="bg1"/>
                </a:solidFill>
              </a:rPr>
              <a:t>3.Vivek</a:t>
            </a:r>
          </a:p>
          <a:p>
            <a:r>
              <a:rPr lang="en-US" sz="3600" dirty="0">
                <a:solidFill>
                  <a:schemeClr val="bg1"/>
                </a:solidFill>
              </a:rPr>
              <a:t>4.naren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558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1342</Words>
  <Application>Microsoft Office PowerPoint</Application>
  <PresentationFormat>Widescreen</PresentationFormat>
  <Paragraphs>125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ui-sans-serif</vt:lpstr>
      <vt:lpstr>Office Theme</vt:lpstr>
      <vt:lpstr>PowerPoint Presentation</vt:lpstr>
      <vt:lpstr>Problem Statement : 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sudarshan s</dc:creator>
  <cp:lastModifiedBy>sudarshan s</cp:lastModifiedBy>
  <cp:revision>10</cp:revision>
  <dcterms:created xsi:type="dcterms:W3CDTF">2025-11-18T15:52:09Z</dcterms:created>
  <dcterms:modified xsi:type="dcterms:W3CDTF">2025-11-19T23:41:26Z</dcterms:modified>
</cp:coreProperties>
</file>