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6312F-6CF9-4DE3-85F6-14E790EDE0C8}" v="39" dt="2025-10-28T02:45:59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5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arshan s" userId="921d32d79f0485a4" providerId="LiveId" clId="{76BB9748-EC89-4F32-834E-E5F39A47D347}"/>
    <pc:docChg chg="undo custSel addSld delSld modSld sldOrd">
      <pc:chgData name="sudarshan s" userId="921d32d79f0485a4" providerId="LiveId" clId="{76BB9748-EC89-4F32-834E-E5F39A47D347}" dt="2025-11-03T11:13:43.805" v="254" actId="20577"/>
      <pc:docMkLst>
        <pc:docMk/>
      </pc:docMkLst>
      <pc:sldChg chg="addSp modSp mod ord">
        <pc:chgData name="sudarshan s" userId="921d32d79f0485a4" providerId="LiveId" clId="{76BB9748-EC89-4F32-834E-E5F39A47D347}" dt="2025-11-03T11:13:43.805" v="254" actId="20577"/>
        <pc:sldMkLst>
          <pc:docMk/>
          <pc:sldMk cId="0" sldId="256"/>
        </pc:sldMkLst>
        <pc:spChg chg="mod">
          <ac:chgData name="sudarshan s" userId="921d32d79f0485a4" providerId="LiveId" clId="{76BB9748-EC89-4F32-834E-E5F39A47D347}" dt="2025-11-03T11:13:43.805" v="254" actId="20577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sudarshan s" userId="921d32d79f0485a4" providerId="LiveId" clId="{76BB9748-EC89-4F32-834E-E5F39A47D347}" dt="2025-10-28T04:58:55.151" v="13" actId="255"/>
          <ac:spMkLst>
            <pc:docMk/>
            <pc:sldMk cId="0" sldId="256"/>
            <ac:spMk id="25" creationId="{04122367-C32B-F8A3-3AC8-826B754BE38E}"/>
          </ac:spMkLst>
        </pc:spChg>
        <pc:spChg chg="add mod">
          <ac:chgData name="sudarshan s" userId="921d32d79f0485a4" providerId="LiveId" clId="{76BB9748-EC89-4F32-834E-E5F39A47D347}" dt="2025-11-03T10:54:32.135" v="251" actId="20577"/>
          <ac:spMkLst>
            <pc:docMk/>
            <pc:sldMk cId="0" sldId="256"/>
            <ac:spMk id="27" creationId="{A7611208-E336-7C8A-1FE4-3FEFAF959B0C}"/>
          </ac:spMkLst>
        </pc:spChg>
        <pc:spChg chg="add mod">
          <ac:chgData name="sudarshan s" userId="921d32d79f0485a4" providerId="LiveId" clId="{76BB9748-EC89-4F32-834E-E5F39A47D347}" dt="2025-10-28T05:00:12.200" v="42" actId="255"/>
          <ac:spMkLst>
            <pc:docMk/>
            <pc:sldMk cId="0" sldId="256"/>
            <ac:spMk id="29" creationId="{8E62CD3F-3BEF-582B-54DF-AE0881B2A950}"/>
          </ac:spMkLst>
        </pc:spChg>
        <pc:spChg chg="add mod">
          <ac:chgData name="sudarshan s" userId="921d32d79f0485a4" providerId="LiveId" clId="{76BB9748-EC89-4F32-834E-E5F39A47D347}" dt="2025-10-28T05:00:49.092" v="48" actId="1076"/>
          <ac:spMkLst>
            <pc:docMk/>
            <pc:sldMk cId="0" sldId="256"/>
            <ac:spMk id="31" creationId="{EBB0EFFD-62B3-42B2-83AB-0F25C5A9F2CA}"/>
          </ac:spMkLst>
        </pc:spChg>
        <pc:picChg chg="mod">
          <ac:chgData name="sudarshan s" userId="921d32d79f0485a4" providerId="LiveId" clId="{76BB9748-EC89-4F32-834E-E5F39A47D347}" dt="2025-10-28T05:00:27.017" v="45" actId="1076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sudarshan s" userId="921d32d79f0485a4" providerId="LiveId" clId="{76BB9748-EC89-4F32-834E-E5F39A47D347}" dt="2025-11-03T09:40:17.693" v="233" actId="1076"/>
          <ac:picMkLst>
            <pc:docMk/>
            <pc:sldMk cId="0" sldId="256"/>
            <ac:picMk id="14" creationId="{00000000-0000-0000-0000-000000000000}"/>
          </ac:picMkLst>
        </pc:picChg>
      </pc:sldChg>
      <pc:sldChg chg="ord modTransition">
        <pc:chgData name="sudarshan s" userId="921d32d79f0485a4" providerId="LiveId" clId="{76BB9748-EC89-4F32-834E-E5F39A47D347}" dt="2025-10-28T02:45:27.682" v="97"/>
        <pc:sldMkLst>
          <pc:docMk/>
          <pc:sldMk cId="0" sldId="257"/>
        </pc:sldMkLst>
      </pc:sldChg>
      <pc:sldChg chg="ord modTransition">
        <pc:chgData name="sudarshan s" userId="921d32d79f0485a4" providerId="LiveId" clId="{76BB9748-EC89-4F32-834E-E5F39A47D347}" dt="2025-10-28T02:45:44.864" v="100"/>
        <pc:sldMkLst>
          <pc:docMk/>
          <pc:sldMk cId="0" sldId="258"/>
        </pc:sldMkLst>
      </pc:sldChg>
      <pc:sldChg chg="ord modTransition">
        <pc:chgData name="sudarshan s" userId="921d32d79f0485a4" providerId="LiveId" clId="{76BB9748-EC89-4F32-834E-E5F39A47D347}" dt="2025-10-28T02:45:59.660" v="103"/>
        <pc:sldMkLst>
          <pc:docMk/>
          <pc:sldMk cId="0" sldId="259"/>
        </pc:sldMkLst>
      </pc:sldChg>
      <pc:sldChg chg="ord modTransition">
        <pc:chgData name="sudarshan s" userId="921d32d79f0485a4" providerId="LiveId" clId="{76BB9748-EC89-4F32-834E-E5F39A47D347}" dt="2025-10-28T02:46:06.614" v="105"/>
        <pc:sldMkLst>
          <pc:docMk/>
          <pc:sldMk cId="0" sldId="260"/>
        </pc:sldMkLst>
      </pc:sldChg>
      <pc:sldChg chg="ord modTransition">
        <pc:chgData name="sudarshan s" userId="921d32d79f0485a4" providerId="LiveId" clId="{76BB9748-EC89-4F32-834E-E5F39A47D347}" dt="2025-10-28T02:47:04.839" v="111"/>
        <pc:sldMkLst>
          <pc:docMk/>
          <pc:sldMk cId="0" sldId="261"/>
        </pc:sldMkLst>
      </pc:sldChg>
      <pc:sldChg chg="modSp mod ord modTransition">
        <pc:chgData name="sudarshan s" userId="921d32d79f0485a4" providerId="LiveId" clId="{76BB9748-EC89-4F32-834E-E5F39A47D347}" dt="2025-11-03T10:02:02.268" v="245" actId="1035"/>
        <pc:sldMkLst>
          <pc:docMk/>
          <pc:sldMk cId="0" sldId="262"/>
        </pc:sldMkLst>
        <pc:picChg chg="mod">
          <ac:chgData name="sudarshan s" userId="921d32d79f0485a4" providerId="LiveId" clId="{76BB9748-EC89-4F32-834E-E5F39A47D347}" dt="2025-11-03T10:02:02.268" v="245" actId="1035"/>
          <ac:picMkLst>
            <pc:docMk/>
            <pc:sldMk cId="0" sldId="262"/>
            <ac:picMk id="22" creationId="{00000000-0000-0000-0000-000000000000}"/>
          </ac:picMkLst>
        </pc:picChg>
      </pc:sldChg>
      <pc:sldChg chg="ord modTransition">
        <pc:chgData name="sudarshan s" userId="921d32d79f0485a4" providerId="LiveId" clId="{76BB9748-EC89-4F32-834E-E5F39A47D347}" dt="2025-10-28T02:47:42.484" v="123"/>
        <pc:sldMkLst>
          <pc:docMk/>
          <pc:sldMk cId="0" sldId="263"/>
        </pc:sldMkLst>
      </pc:sldChg>
      <pc:sldChg chg="ord modTransition">
        <pc:chgData name="sudarshan s" userId="921d32d79f0485a4" providerId="LiveId" clId="{76BB9748-EC89-4F32-834E-E5F39A47D347}" dt="2025-10-28T02:46:18.244" v="109"/>
        <pc:sldMkLst>
          <pc:docMk/>
          <pc:sldMk cId="0" sldId="264"/>
        </pc:sldMkLst>
      </pc:sldChg>
      <pc:sldChg chg="ord modTransition">
        <pc:chgData name="sudarshan s" userId="921d32d79f0485a4" providerId="LiveId" clId="{76BB9748-EC89-4F32-834E-E5F39A47D347}" dt="2025-10-28T02:47:14.878" v="115"/>
        <pc:sldMkLst>
          <pc:docMk/>
          <pc:sldMk cId="0" sldId="265"/>
        </pc:sldMkLst>
      </pc:sldChg>
      <pc:sldChg chg="ord modTransition">
        <pc:chgData name="sudarshan s" userId="921d32d79f0485a4" providerId="LiveId" clId="{76BB9748-EC89-4F32-834E-E5F39A47D347}" dt="2025-10-28T02:47:40.044" v="121"/>
        <pc:sldMkLst>
          <pc:docMk/>
          <pc:sldMk cId="0" sldId="266"/>
        </pc:sldMkLst>
      </pc:sldChg>
      <pc:sldChg chg="modSp mod ord modTransition">
        <pc:chgData name="sudarshan s" userId="921d32d79f0485a4" providerId="LiveId" clId="{76BB9748-EC89-4F32-834E-E5F39A47D347}" dt="2025-10-29T17:54:42.906" v="227" actId="1076"/>
        <pc:sldMkLst>
          <pc:docMk/>
          <pc:sldMk cId="0" sldId="267"/>
        </pc:sldMkLst>
        <pc:picChg chg="mod">
          <ac:chgData name="sudarshan s" userId="921d32d79f0485a4" providerId="LiveId" clId="{76BB9748-EC89-4F32-834E-E5F39A47D347}" dt="2025-10-29T17:54:42.906" v="227" actId="1076"/>
          <ac:picMkLst>
            <pc:docMk/>
            <pc:sldMk cId="0" sldId="267"/>
            <ac:picMk id="12" creationId="{00000000-0000-0000-0000-000000000000}"/>
          </ac:picMkLst>
        </pc:picChg>
      </pc:sldChg>
      <pc:sldChg chg="ord modTransition">
        <pc:chgData name="sudarshan s" userId="921d32d79f0485a4" providerId="LiveId" clId="{76BB9748-EC89-4F32-834E-E5F39A47D347}" dt="2025-10-28T02:42:56.196" v="80"/>
        <pc:sldMkLst>
          <pc:docMk/>
          <pc:sldMk cId="0" sldId="268"/>
        </pc:sldMkLst>
      </pc:sldChg>
      <pc:sldChg chg="modSp mod ord modTransition">
        <pc:chgData name="sudarshan s" userId="921d32d79f0485a4" providerId="LiveId" clId="{76BB9748-EC89-4F32-834E-E5F39A47D347}" dt="2025-10-29T17:54:57.957" v="229" actId="1076"/>
        <pc:sldMkLst>
          <pc:docMk/>
          <pc:sldMk cId="0" sldId="269"/>
        </pc:sldMkLst>
        <pc:picChg chg="mod">
          <ac:chgData name="sudarshan s" userId="921d32d79f0485a4" providerId="LiveId" clId="{76BB9748-EC89-4F32-834E-E5F39A47D347}" dt="2025-10-29T17:54:57.957" v="229" actId="1076"/>
          <ac:picMkLst>
            <pc:docMk/>
            <pc:sldMk cId="0" sldId="269"/>
            <ac:picMk id="6" creationId="{00000000-0000-0000-0000-000000000000}"/>
          </ac:picMkLst>
        </pc:picChg>
      </pc:sldChg>
      <pc:sldChg chg="ord modTransition">
        <pc:chgData name="sudarshan s" userId="921d32d79f0485a4" providerId="LiveId" clId="{76BB9748-EC89-4F32-834E-E5F39A47D347}" dt="2025-10-28T16:59:42.450" v="225"/>
        <pc:sldMkLst>
          <pc:docMk/>
          <pc:sldMk cId="0" sldId="270"/>
        </pc:sldMkLst>
      </pc:sldChg>
      <pc:sldChg chg="modSp mod ord modTransition">
        <pc:chgData name="sudarshan s" userId="921d32d79f0485a4" providerId="LiveId" clId="{76BB9748-EC89-4F32-834E-E5F39A47D347}" dt="2025-10-28T02:53:15.538" v="204" actId="20577"/>
        <pc:sldMkLst>
          <pc:docMk/>
          <pc:sldMk cId="0" sldId="271"/>
        </pc:sldMkLst>
        <pc:spChg chg="mod">
          <ac:chgData name="sudarshan s" userId="921d32d79f0485a4" providerId="LiveId" clId="{76BB9748-EC89-4F32-834E-E5F39A47D347}" dt="2025-10-28T02:53:15.538" v="204" actId="20577"/>
          <ac:spMkLst>
            <pc:docMk/>
            <pc:sldMk cId="0" sldId="271"/>
            <ac:spMk id="31" creationId="{00000000-0000-0000-0000-000000000000}"/>
          </ac:spMkLst>
        </pc:spChg>
      </pc:sldChg>
      <pc:sldChg chg="modSp mod modTransition">
        <pc:chgData name="sudarshan s" userId="921d32d79f0485a4" providerId="LiveId" clId="{76BB9748-EC89-4F32-834E-E5F39A47D347}" dt="2025-10-28T02:53:24.032" v="206" actId="20577"/>
        <pc:sldMkLst>
          <pc:docMk/>
          <pc:sldMk cId="0" sldId="272"/>
        </pc:sldMkLst>
        <pc:spChg chg="mod">
          <ac:chgData name="sudarshan s" userId="921d32d79f0485a4" providerId="LiveId" clId="{76BB9748-EC89-4F32-834E-E5F39A47D347}" dt="2025-10-28T02:53:24.032" v="206" actId="20577"/>
          <ac:spMkLst>
            <pc:docMk/>
            <pc:sldMk cId="0" sldId="272"/>
            <ac:spMk id="32" creationId="{00000000-0000-0000-0000-000000000000}"/>
          </ac:spMkLst>
        </pc:spChg>
      </pc:sldChg>
      <pc:sldChg chg="modSp mod modTransition">
        <pc:chgData name="sudarshan s" userId="921d32d79f0485a4" providerId="LiveId" clId="{76BB9748-EC89-4F32-834E-E5F39A47D347}" dt="2025-10-28T02:53:31.316" v="208" actId="20577"/>
        <pc:sldMkLst>
          <pc:docMk/>
          <pc:sldMk cId="0" sldId="273"/>
        </pc:sldMkLst>
        <pc:spChg chg="mod">
          <ac:chgData name="sudarshan s" userId="921d32d79f0485a4" providerId="LiveId" clId="{76BB9748-EC89-4F32-834E-E5F39A47D347}" dt="2025-10-28T02:53:31.316" v="208" actId="20577"/>
          <ac:spMkLst>
            <pc:docMk/>
            <pc:sldMk cId="0" sldId="273"/>
            <ac:spMk id="40" creationId="{00000000-0000-0000-0000-000000000000}"/>
          </ac:spMkLst>
        </pc:spChg>
      </pc:sldChg>
      <pc:sldChg chg="modSp mod modTransition">
        <pc:chgData name="sudarshan s" userId="921d32d79f0485a4" providerId="LiveId" clId="{76BB9748-EC89-4F32-834E-E5F39A47D347}" dt="2025-11-03T10:02:55.523" v="250" actId="20577"/>
        <pc:sldMkLst>
          <pc:docMk/>
          <pc:sldMk cId="0" sldId="274"/>
        </pc:sldMkLst>
        <pc:spChg chg="mod">
          <ac:chgData name="sudarshan s" userId="921d32d79f0485a4" providerId="LiveId" clId="{76BB9748-EC89-4F32-834E-E5F39A47D347}" dt="2025-11-03T10:02:55.523" v="250" actId="20577"/>
          <ac:spMkLst>
            <pc:docMk/>
            <pc:sldMk cId="0" sldId="274"/>
            <ac:spMk id="48" creationId="{00000000-0000-0000-0000-000000000000}"/>
          </ac:spMkLst>
        </pc:spChg>
      </pc:sldChg>
      <pc:sldChg chg="modSp mod modTransition">
        <pc:chgData name="sudarshan s" userId="921d32d79f0485a4" providerId="LiveId" clId="{76BB9748-EC89-4F32-834E-E5F39A47D347}" dt="2025-11-03T10:02:40.559" v="247" actId="20577"/>
        <pc:sldMkLst>
          <pc:docMk/>
          <pc:sldMk cId="0" sldId="275"/>
        </pc:sldMkLst>
        <pc:spChg chg="mod">
          <ac:chgData name="sudarshan s" userId="921d32d79f0485a4" providerId="LiveId" clId="{76BB9748-EC89-4F32-834E-E5F39A47D347}" dt="2025-11-03T10:02:40.559" v="247" actId="20577"/>
          <ac:spMkLst>
            <pc:docMk/>
            <pc:sldMk cId="0" sldId="275"/>
            <ac:spMk id="34" creationId="{00000000-0000-0000-0000-000000000000}"/>
          </ac:spMkLst>
        </pc:spChg>
      </pc:sldChg>
      <pc:sldChg chg="addSp delSp modSp add mod ord">
        <pc:chgData name="sudarshan s" userId="921d32d79f0485a4" providerId="LiveId" clId="{76BB9748-EC89-4F32-834E-E5F39A47D347}" dt="2025-10-29T17:56:26.775" v="232" actId="1076"/>
        <pc:sldMkLst>
          <pc:docMk/>
          <pc:sldMk cId="2300052009" sldId="276"/>
        </pc:sldMkLst>
        <pc:spChg chg="mod">
          <ac:chgData name="sudarshan s" userId="921d32d79f0485a4" providerId="LiveId" clId="{76BB9748-EC89-4F32-834E-E5F39A47D347}" dt="2025-10-29T09:19:16.092" v="226" actId="20577"/>
          <ac:spMkLst>
            <pc:docMk/>
            <pc:sldMk cId="2300052009" sldId="276"/>
            <ac:spMk id="17" creationId="{56AB4D1D-0841-5CA7-3B50-54F61A5E5EC0}"/>
          </ac:spMkLst>
        </pc:spChg>
        <pc:spChg chg="add mod">
          <ac:chgData name="sudarshan s" userId="921d32d79f0485a4" providerId="LiveId" clId="{76BB9748-EC89-4F32-834E-E5F39A47D347}" dt="2025-10-28T02:54:56.682" v="222" actId="255"/>
          <ac:spMkLst>
            <pc:docMk/>
            <pc:sldMk cId="2300052009" sldId="276"/>
            <ac:spMk id="36" creationId="{FF0BF0D3-F67E-6228-D166-37F846A3C636}"/>
          </ac:spMkLst>
        </pc:spChg>
        <pc:picChg chg="add del">
          <ac:chgData name="sudarshan s" userId="921d32d79f0485a4" providerId="LiveId" clId="{76BB9748-EC89-4F32-834E-E5F39A47D347}" dt="2025-10-28T02:51:55.167" v="196" actId="478"/>
          <ac:picMkLst>
            <pc:docMk/>
            <pc:sldMk cId="2300052009" sldId="276"/>
            <ac:picMk id="2" creationId="{7172DA04-7D56-3CB1-D6E2-0CE72141BAFB}"/>
          </ac:picMkLst>
        </pc:picChg>
        <pc:picChg chg="add mod">
          <ac:chgData name="sudarshan s" userId="921d32d79f0485a4" providerId="LiveId" clId="{76BB9748-EC89-4F32-834E-E5F39A47D347}" dt="2025-10-29T17:56:26.775" v="232" actId="1076"/>
          <ac:picMkLst>
            <pc:docMk/>
            <pc:sldMk cId="2300052009" sldId="276"/>
            <ac:picMk id="32" creationId="{2F0B5DAB-EAB2-7049-E78C-50C23CE2AE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62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29F6-8BAE-89E3-A42B-FDB8AF24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E3B5F-911E-9ECD-386F-339DE39C9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5A503-7F2E-749C-5FF1-14AE35605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1CC0F-961B-F7D5-EAB2-F9D7FF492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96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5" Type="http://schemas.openxmlformats.org/officeDocument/2006/relationships/image" Target="../media/image49.png"/><Relationship Id="rId10" Type="http://schemas.openxmlformats.org/officeDocument/2006/relationships/image" Target="../media/image45.png"/><Relationship Id="rId19" Type="http://schemas.openxmlformats.org/officeDocument/2006/relationships/image" Target="../media/image53.png"/><Relationship Id="rId4" Type="http://schemas.openxmlformats.org/officeDocument/2006/relationships/image" Target="../media/image18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58.png"/><Relationship Id="rId5" Type="http://schemas.openxmlformats.org/officeDocument/2006/relationships/image" Target="../media/image19.png"/><Relationship Id="rId15" Type="http://schemas.openxmlformats.org/officeDocument/2006/relationships/image" Target="../media/image17.png"/><Relationship Id="rId10" Type="http://schemas.openxmlformats.org/officeDocument/2006/relationships/image" Target="../media/image57.png"/><Relationship Id="rId4" Type="http://schemas.openxmlformats.org/officeDocument/2006/relationships/image" Target="../media/image18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1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19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18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17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83.png"/><Relationship Id="rId5" Type="http://schemas.openxmlformats.org/officeDocument/2006/relationships/image" Target="../media/image19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89.png"/><Relationship Id="rId4" Type="http://schemas.openxmlformats.org/officeDocument/2006/relationships/image" Target="../media/image18.png"/><Relationship Id="rId9" Type="http://schemas.openxmlformats.org/officeDocument/2006/relationships/image" Target="../media/image56.png"/><Relationship Id="rId14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0.png"/><Relationship Id="rId3" Type="http://schemas.openxmlformats.org/officeDocument/2006/relationships/image" Target="../media/image1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8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94.png"/><Relationship Id="rId5" Type="http://schemas.openxmlformats.org/officeDocument/2006/relationships/image" Target="../media/image19.png"/><Relationship Id="rId15" Type="http://schemas.openxmlformats.org/officeDocument/2006/relationships/image" Target="../media/image69.png"/><Relationship Id="rId10" Type="http://schemas.openxmlformats.org/officeDocument/2006/relationships/image" Target="../media/image93.png"/><Relationship Id="rId19" Type="http://schemas.openxmlformats.org/officeDocument/2006/relationships/image" Target="../media/image101.png"/><Relationship Id="rId4" Type="http://schemas.openxmlformats.org/officeDocument/2006/relationships/image" Target="../media/image18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1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06.png"/><Relationship Id="rId5" Type="http://schemas.openxmlformats.org/officeDocument/2006/relationships/image" Target="../media/image19.png"/><Relationship Id="rId15" Type="http://schemas.openxmlformats.org/officeDocument/2006/relationships/image" Target="../media/image110.png"/><Relationship Id="rId23" Type="http://schemas.openxmlformats.org/officeDocument/2006/relationships/image" Target="../media/image17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18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.png"/><Relationship Id="rId21" Type="http://schemas.openxmlformats.org/officeDocument/2006/relationships/image" Target="../media/image69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7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22.png"/><Relationship Id="rId24" Type="http://schemas.openxmlformats.org/officeDocument/2006/relationships/image" Target="../media/image17.png"/><Relationship Id="rId5" Type="http://schemas.openxmlformats.org/officeDocument/2006/relationships/image" Target="../media/image19.png"/><Relationship Id="rId15" Type="http://schemas.openxmlformats.org/officeDocument/2006/relationships/image" Target="../media/image126.png"/><Relationship Id="rId23" Type="http://schemas.openxmlformats.org/officeDocument/2006/relationships/image" Target="../media/image132.png"/><Relationship Id="rId10" Type="http://schemas.openxmlformats.org/officeDocument/2006/relationships/image" Target="../media/image121.png"/><Relationship Id="rId19" Type="http://schemas.openxmlformats.org/officeDocument/2006/relationships/image" Target="../media/image105.png"/><Relationship Id="rId4" Type="http://schemas.openxmlformats.org/officeDocument/2006/relationships/image" Target="../media/image18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.png"/><Relationship Id="rId21" Type="http://schemas.openxmlformats.org/officeDocument/2006/relationships/image" Target="../media/image146.png"/><Relationship Id="rId7" Type="http://schemas.openxmlformats.org/officeDocument/2006/relationships/image" Target="../media/image21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36.png"/><Relationship Id="rId24" Type="http://schemas.openxmlformats.org/officeDocument/2006/relationships/image" Target="../media/image17.png"/><Relationship Id="rId5" Type="http://schemas.openxmlformats.org/officeDocument/2006/relationships/image" Target="../media/image19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8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4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49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52.png"/><Relationship Id="rId5" Type="http://schemas.openxmlformats.org/officeDocument/2006/relationships/image" Target="../media/image19.png"/><Relationship Id="rId15" Type="http://schemas.openxmlformats.org/officeDocument/2006/relationships/image" Target="../media/image156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151.png"/><Relationship Id="rId14" Type="http://schemas.openxmlformats.org/officeDocument/2006/relationships/image" Target="../media/image1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3" Type="http://schemas.openxmlformats.org/officeDocument/2006/relationships/image" Target="../media/image159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65.png"/><Relationship Id="rId5" Type="http://schemas.openxmlformats.org/officeDocument/2006/relationships/image" Target="../media/image160.png"/><Relationship Id="rId15" Type="http://schemas.openxmlformats.org/officeDocument/2006/relationships/image" Target="../media/image168.png"/><Relationship Id="rId10" Type="http://schemas.openxmlformats.org/officeDocument/2006/relationships/image" Target="../media/image164.png"/><Relationship Id="rId4" Type="http://schemas.openxmlformats.org/officeDocument/2006/relationships/image" Target="../media/image18.png"/><Relationship Id="rId9" Type="http://schemas.openxmlformats.org/officeDocument/2006/relationships/image" Target="../media/image163.png"/><Relationship Id="rId1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6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71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74.png"/><Relationship Id="rId5" Type="http://schemas.openxmlformats.org/officeDocument/2006/relationships/image" Target="../media/image19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17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3" Type="http://schemas.openxmlformats.org/officeDocument/2006/relationships/image" Target="../media/image1.png"/><Relationship Id="rId21" Type="http://schemas.openxmlformats.org/officeDocument/2006/relationships/image" Target="../media/image194.png"/><Relationship Id="rId7" Type="http://schemas.openxmlformats.org/officeDocument/2006/relationships/image" Target="../media/image181.png"/><Relationship Id="rId12" Type="http://schemas.openxmlformats.org/officeDocument/2006/relationships/image" Target="../media/image50.png"/><Relationship Id="rId17" Type="http://schemas.openxmlformats.org/officeDocument/2006/relationships/image" Target="../media/image19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85.png"/><Relationship Id="rId5" Type="http://schemas.openxmlformats.org/officeDocument/2006/relationships/image" Target="../media/image19.png"/><Relationship Id="rId15" Type="http://schemas.openxmlformats.org/officeDocument/2006/relationships/image" Target="../media/image188.png"/><Relationship Id="rId10" Type="http://schemas.openxmlformats.org/officeDocument/2006/relationships/image" Target="../media/image184.png"/><Relationship Id="rId19" Type="http://schemas.openxmlformats.org/officeDocument/2006/relationships/image" Target="../media/image192.png"/><Relationship Id="rId4" Type="http://schemas.openxmlformats.org/officeDocument/2006/relationships/image" Target="../media/image18.png"/><Relationship Id="rId9" Type="http://schemas.openxmlformats.org/officeDocument/2006/relationships/image" Target="../media/image183.png"/><Relationship Id="rId14" Type="http://schemas.openxmlformats.org/officeDocument/2006/relationships/image" Target="../media/image187.png"/><Relationship Id="rId22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9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00.png"/><Relationship Id="rId3" Type="http://schemas.openxmlformats.org/officeDocument/2006/relationships/image" Target="../media/image1.png"/><Relationship Id="rId7" Type="http://schemas.openxmlformats.org/officeDocument/2006/relationships/image" Target="../media/image196.png"/><Relationship Id="rId12" Type="http://schemas.openxmlformats.org/officeDocument/2006/relationships/image" Target="../media/image199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74.png"/><Relationship Id="rId5" Type="http://schemas.openxmlformats.org/officeDocument/2006/relationships/image" Target="../media/image19.png"/><Relationship Id="rId15" Type="http://schemas.openxmlformats.org/officeDocument/2006/relationships/image" Target="../media/image202.png"/><Relationship Id="rId10" Type="http://schemas.openxmlformats.org/officeDocument/2006/relationships/image" Target="../media/image198.png"/><Relationship Id="rId4" Type="http://schemas.openxmlformats.org/officeDocument/2006/relationships/image" Target="../media/image18.png"/><Relationship Id="rId9" Type="http://schemas.openxmlformats.org/officeDocument/2006/relationships/image" Target="../media/image197.png"/><Relationship Id="rId14" Type="http://schemas.openxmlformats.org/officeDocument/2006/relationships/image" Target="../media/image20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8.png"/><Relationship Id="rId3" Type="http://schemas.openxmlformats.org/officeDocument/2006/relationships/image" Target="../media/image1.png"/><Relationship Id="rId7" Type="http://schemas.openxmlformats.org/officeDocument/2006/relationships/image" Target="../media/image203.png"/><Relationship Id="rId12" Type="http://schemas.openxmlformats.org/officeDocument/2006/relationships/image" Target="../media/image207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39.png"/><Relationship Id="rId10" Type="http://schemas.openxmlformats.org/officeDocument/2006/relationships/image" Target="../media/image206.png"/><Relationship Id="rId4" Type="http://schemas.openxmlformats.org/officeDocument/2006/relationships/image" Target="../media/image18.png"/><Relationship Id="rId9" Type="http://schemas.openxmlformats.org/officeDocument/2006/relationships/image" Target="../media/image205.png"/><Relationship Id="rId14" Type="http://schemas.openxmlformats.org/officeDocument/2006/relationships/image" Target="../media/image20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18" Type="http://schemas.openxmlformats.org/officeDocument/2006/relationships/image" Target="../media/image222.png"/><Relationship Id="rId3" Type="http://schemas.openxmlformats.org/officeDocument/2006/relationships/image" Target="../media/image1.png"/><Relationship Id="rId21" Type="http://schemas.openxmlformats.org/officeDocument/2006/relationships/image" Target="../media/image225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17" Type="http://schemas.openxmlformats.org/officeDocument/2006/relationships/image" Target="../media/image22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20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15.png"/><Relationship Id="rId24" Type="http://schemas.openxmlformats.org/officeDocument/2006/relationships/image" Target="../media/image17.png"/><Relationship Id="rId5" Type="http://schemas.openxmlformats.org/officeDocument/2006/relationships/image" Target="../media/image19.png"/><Relationship Id="rId15" Type="http://schemas.openxmlformats.org/officeDocument/2006/relationships/image" Target="../media/image219.png"/><Relationship Id="rId23" Type="http://schemas.openxmlformats.org/officeDocument/2006/relationships/image" Target="../media/image227.png"/><Relationship Id="rId10" Type="http://schemas.openxmlformats.org/officeDocument/2006/relationships/image" Target="../media/image214.png"/><Relationship Id="rId19" Type="http://schemas.openxmlformats.org/officeDocument/2006/relationships/image" Target="../media/image223.png"/><Relationship Id="rId4" Type="http://schemas.openxmlformats.org/officeDocument/2006/relationships/image" Target="../media/image18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Relationship Id="rId22" Type="http://schemas.openxmlformats.org/officeDocument/2006/relationships/image" Target="../media/image2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5.png"/><Relationship Id="rId18" Type="http://schemas.openxmlformats.org/officeDocument/2006/relationships/image" Target="../media/image17.png"/><Relationship Id="rId3" Type="http://schemas.openxmlformats.org/officeDocument/2006/relationships/image" Target="../media/image228.png"/><Relationship Id="rId7" Type="http://schemas.openxmlformats.org/officeDocument/2006/relationships/image" Target="../media/image230.png"/><Relationship Id="rId12" Type="http://schemas.openxmlformats.org/officeDocument/2006/relationships/image" Target="../media/image23.png"/><Relationship Id="rId17" Type="http://schemas.openxmlformats.org/officeDocument/2006/relationships/image" Target="../media/image23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4.png"/><Relationship Id="rId5" Type="http://schemas.openxmlformats.org/officeDocument/2006/relationships/image" Target="../media/image229.png"/><Relationship Id="rId15" Type="http://schemas.openxmlformats.org/officeDocument/2006/relationships/image" Target="../media/image237.png"/><Relationship Id="rId10" Type="http://schemas.openxmlformats.org/officeDocument/2006/relationships/image" Target="../media/image233.png"/><Relationship Id="rId4" Type="http://schemas.openxmlformats.org/officeDocument/2006/relationships/image" Target="../media/image18.png"/><Relationship Id="rId9" Type="http://schemas.openxmlformats.org/officeDocument/2006/relationships/image" Target="../media/image232.png"/><Relationship Id="rId14" Type="http://schemas.openxmlformats.org/officeDocument/2006/relationships/image" Target="../media/image2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92.png"/><Relationship Id="rId18" Type="http://schemas.openxmlformats.org/officeDocument/2006/relationships/image" Target="../media/image69.pn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240.png"/><Relationship Id="rId12" Type="http://schemas.openxmlformats.org/officeDocument/2006/relationships/image" Target="../media/image245.png"/><Relationship Id="rId17" Type="http://schemas.openxmlformats.org/officeDocument/2006/relationships/image" Target="../media/image24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48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4.png"/><Relationship Id="rId5" Type="http://schemas.openxmlformats.org/officeDocument/2006/relationships/image" Target="../media/image19.png"/><Relationship Id="rId15" Type="http://schemas.openxmlformats.org/officeDocument/2006/relationships/image" Target="../media/image247.png"/><Relationship Id="rId10" Type="http://schemas.openxmlformats.org/officeDocument/2006/relationships/image" Target="../media/image243.png"/><Relationship Id="rId19" Type="http://schemas.openxmlformats.org/officeDocument/2006/relationships/image" Target="../media/image250.png"/><Relationship Id="rId4" Type="http://schemas.openxmlformats.org/officeDocument/2006/relationships/image" Target="../media/image18.png"/><Relationship Id="rId9" Type="http://schemas.openxmlformats.org/officeDocument/2006/relationships/image" Target="../media/image242.png"/><Relationship Id="rId14" Type="http://schemas.openxmlformats.org/officeDocument/2006/relationships/image" Target="../media/image2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04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10000" cy="3810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4000500"/>
            <a:ext cx="2857500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4846" y="180346"/>
            <a:ext cx="2020558" cy="202055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96" y="4371346"/>
            <a:ext cx="2020557" cy="202055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096" y="1609096"/>
            <a:ext cx="2020558" cy="202055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2346" y="3704596"/>
            <a:ext cx="2020558" cy="202055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1143000"/>
            <a:ext cx="36576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8400" y="2095500"/>
            <a:ext cx="48768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3048000"/>
            <a:ext cx="42672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4000500"/>
            <a:ext cx="36576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200" y="4953000"/>
            <a:ext cx="54864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0133" y="153984"/>
            <a:ext cx="9753600" cy="1828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0608" y="24669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0133" y="299085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0608" y="3611679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28625" y="285750"/>
            <a:ext cx="9144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Integrative Machine Learning Approach for Forecasting Lung Cancer Chemosensitivity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523246" y="1383846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Algorithm to Cell Line Validation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553616" y="2422700"/>
            <a:ext cx="9486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Authors: Jinghong Chen, Yonglin Yi, Chunqian Yang, Haoxuan Ying, Jian Zhang, Anqi Lin, and Ting Wei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572113" y="2930298"/>
            <a:ext cx="6896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Journal: Computational and Structural Biotechnology Journal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572113" y="3554529"/>
            <a:ext cx="20247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Date: 2025-7-26</a:t>
            </a:r>
          </a:p>
          <a:p>
            <a:pPr marL="0" indent="0">
              <a:lnSpc>
                <a:spcPts val="2100"/>
              </a:lnSpc>
              <a:buNone/>
            </a:pPr>
            <a:endParaRPr lang="en-US" sz="1500" dirty="0">
              <a:solidFill>
                <a:srgbClr val="374151"/>
              </a:solidFill>
              <a:latin typeface="ui-sans-serif" pitchFamily="34" charset="0"/>
              <a:ea typeface="ui-sans-serif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ts val="2100"/>
              </a:lnSpc>
            </a:pPr>
            <a:endParaRPr lang="en-US" sz="2400" dirty="0"/>
          </a:p>
          <a:p>
            <a:pPr>
              <a:lnSpc>
                <a:spcPts val="2100"/>
              </a:lnSpc>
            </a:pPr>
            <a:endParaRPr lang="en-US" sz="1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122367-C32B-F8A3-3AC8-826B754BE38E}"/>
              </a:ext>
            </a:extLst>
          </p:cNvPr>
          <p:cNvSpPr txBox="1"/>
          <p:nvPr/>
        </p:nvSpPr>
        <p:spPr>
          <a:xfrm>
            <a:off x="5596035" y="3979490"/>
            <a:ext cx="6172200" cy="38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Naren – AID25034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11208-E336-7C8A-1FE4-3FEFAF959B0C}"/>
              </a:ext>
            </a:extLst>
          </p:cNvPr>
          <p:cNvSpPr txBox="1"/>
          <p:nvPr/>
        </p:nvSpPr>
        <p:spPr>
          <a:xfrm>
            <a:off x="5596035" y="4665603"/>
            <a:ext cx="6172200" cy="38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Sathvik – AID25057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62CD3F-3BEF-582B-54DF-AE0881B2A950}"/>
              </a:ext>
            </a:extLst>
          </p:cNvPr>
          <p:cNvSpPr txBox="1"/>
          <p:nvPr/>
        </p:nvSpPr>
        <p:spPr>
          <a:xfrm>
            <a:off x="935783" y="3700706"/>
            <a:ext cx="6172200" cy="65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endParaRPr lang="en-US" sz="1200" dirty="0">
              <a:solidFill>
                <a:srgbClr val="374151"/>
              </a:solidFill>
              <a:latin typeface="ui-sans-serif" pitchFamily="34" charset="0"/>
              <a:ea typeface="ui-sans-serif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Sudarshan –AID25064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B0EFFD-62B3-42B2-83AB-0F25C5A9F2CA}"/>
              </a:ext>
            </a:extLst>
          </p:cNvPr>
          <p:cNvSpPr txBox="1"/>
          <p:nvPr/>
        </p:nvSpPr>
        <p:spPr>
          <a:xfrm>
            <a:off x="523246" y="4648507"/>
            <a:ext cx="6172200" cy="38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Vivek – AID25063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04900"/>
            <a:ext cx="1097280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86100"/>
            <a:ext cx="5524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228975"/>
            <a:ext cx="2667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895725"/>
            <a:ext cx="590550" cy="6191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0386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705350"/>
            <a:ext cx="552450" cy="6191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848225"/>
            <a:ext cx="2667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514975"/>
            <a:ext cx="590550" cy="6191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565785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Objective</a:t>
            </a:r>
            <a:endParaRPr lang="en-US" sz="2250" dirty="0"/>
          </a:p>
        </p:txBody>
      </p:sp>
      <p:sp>
        <p:nvSpPr>
          <p:cNvPr id="17" name="Text 1"/>
          <p:cNvSpPr/>
          <p:nvPr/>
        </p:nvSpPr>
        <p:spPr>
          <a:xfrm>
            <a:off x="838200" y="1333500"/>
            <a:ext cx="1051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Goal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838200" y="1790700"/>
            <a:ext cx="10515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 robust and accurate machine learning model capable of predicting the chemosensitivity of lung cancer patients.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352550" y="3128963"/>
            <a:ext cx="8065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Multi-omics Data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1352550" y="3395663"/>
            <a:ext cx="96788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 genomic, transcriptomic, and clinical data to create a comprehensive predictive tool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1390650" y="3938588"/>
            <a:ext cx="6483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Treatment Outcomes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1390650" y="4205288"/>
            <a:ext cx="7779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personalized chemotherapy selection to improve patient prognosis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1352550" y="4748213"/>
            <a:ext cx="69377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Through Experiments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1352550" y="5014913"/>
            <a:ext cx="83253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Confirm the model's effectiveness through computational and cell line validation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1390650" y="5557838"/>
            <a:ext cx="66012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Key Genetic Factors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1390650" y="5824538"/>
            <a:ext cx="79215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Discover genetic markers influencing chemotherapy response in lung cancer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04900"/>
            <a:ext cx="5257800" cy="2819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37160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1828800"/>
            <a:ext cx="476250" cy="514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475" y="2071688"/>
            <a:ext cx="190500" cy="95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2781300"/>
            <a:ext cx="457200" cy="552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3475" y="2924175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104900"/>
            <a:ext cx="5257800" cy="3067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13716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5600" y="181927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552700"/>
            <a:ext cx="4800600" cy="13906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Lung Cancer Overview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238250" y="1333500"/>
            <a:ext cx="4800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619250" y="1790700"/>
            <a:ext cx="4823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Non-small Cell Lung Cancer (NSCLC)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619250" y="2057400"/>
            <a:ext cx="4019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common type, accounts for about 80-85% of cases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1600200" y="2743200"/>
            <a:ext cx="4846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 Cell Lung Cancer (SCLC)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600200" y="3009900"/>
            <a:ext cx="4038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Less common but more aggressive, accounts for about 15-20% of cases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6896100" y="1333500"/>
            <a:ext cx="4800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Impact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6953250" y="1790700"/>
            <a:ext cx="4648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Lung cancer ranks among the malignancies with the highest incidence and mortality rates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6244590" y="2695575"/>
            <a:ext cx="5417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Statistics (2020)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255446" y="3076575"/>
            <a:ext cx="113853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2.2M</a:t>
            </a:r>
            <a:endParaRPr lang="en-US" sz="2700" dirty="0"/>
          </a:p>
        </p:txBody>
      </p:sp>
      <p:sp>
        <p:nvSpPr>
          <p:cNvPr id="27" name="Text 10"/>
          <p:cNvSpPr/>
          <p:nvPr/>
        </p:nvSpPr>
        <p:spPr>
          <a:xfrm>
            <a:off x="7255446" y="3533775"/>
            <a:ext cx="11385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New Cases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9512871" y="3076575"/>
            <a:ext cx="113853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1.8M</a:t>
            </a:r>
            <a:endParaRPr lang="en-US" sz="2700" dirty="0"/>
          </a:p>
        </p:txBody>
      </p:sp>
      <p:sp>
        <p:nvSpPr>
          <p:cNvPr id="29" name="Text 12"/>
          <p:cNvSpPr/>
          <p:nvPr/>
        </p:nvSpPr>
        <p:spPr>
          <a:xfrm>
            <a:off x="9512871" y="3533775"/>
            <a:ext cx="11385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Deaths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3/20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028700"/>
            <a:ext cx="5524500" cy="1409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219200"/>
            <a:ext cx="5905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1362075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028700"/>
            <a:ext cx="5524500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219200"/>
            <a:ext cx="552450" cy="6191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1362075"/>
            <a:ext cx="2667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667000"/>
            <a:ext cx="552450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2857500"/>
            <a:ext cx="628650" cy="6191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000375"/>
            <a:ext cx="3429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2667000"/>
            <a:ext cx="5524500" cy="1181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857500"/>
            <a:ext cx="628650" cy="6191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3675" y="3000375"/>
            <a:ext cx="3429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076700"/>
            <a:ext cx="11277600" cy="1600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4757738"/>
            <a:ext cx="590550" cy="6191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0575" y="4900613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Challenges in Chemotherapy Treatment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1390650" y="1219200"/>
            <a:ext cx="5280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Inter-Patient Variability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390650" y="1562100"/>
            <a:ext cx="4400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variation in patient responses to chemotherapeutic agents, making personalized treatment challenging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7105650" y="1219200"/>
            <a:ext cx="5326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Genetic Polymorphisms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7105650" y="1562100"/>
            <a:ext cx="4438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Genetic differences among patients affect drug metabolism and response efficacy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428750" y="2857500"/>
            <a:ext cx="4362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Tumor Heterogeneity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1428750" y="3200400"/>
            <a:ext cx="436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Genetic and phenotypic diversity within tumors leads to varied responses to treatment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7181850" y="2857500"/>
            <a:ext cx="5234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Drug Metabolism Variations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7181850" y="3200400"/>
            <a:ext cx="436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Individual differences in drug metabolism pathways affect treatment outcomes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47700" y="426720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Practice Limitations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1352550" y="4648200"/>
            <a:ext cx="68660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Reliance on empirical judgment with significant limitations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352550" y="4953000"/>
            <a:ext cx="68660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Difficulty in accurately predicting individual patient sensitivity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352550" y="5257800"/>
            <a:ext cx="68660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of unnecessary toxic reactions and suboptimal treatment outcomes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28700"/>
            <a:ext cx="5334000" cy="34385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257300"/>
            <a:ext cx="5524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1400175"/>
            <a:ext cx="2667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7717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1337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4956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028700"/>
            <a:ext cx="5334000" cy="3438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257300"/>
            <a:ext cx="552450" cy="6191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875" y="1400175"/>
            <a:ext cx="2667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905125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667125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695825"/>
            <a:ext cx="109728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981575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Sources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1543050" y="1414463"/>
            <a:ext cx="240726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GDSC Database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38200" y="2028825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Provided RNA-seq data and drug IC50 values for cell lines.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1104900" y="2714625"/>
            <a:ext cx="4831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GDSC1 and GDSC2 datasets for model training</a:t>
            </a:r>
            <a:endParaRPr lang="en-US" sz="1350" dirty="0"/>
          </a:p>
        </p:txBody>
      </p:sp>
      <p:sp>
        <p:nvSpPr>
          <p:cNvPr id="24" name="Text 4"/>
          <p:cNvSpPr/>
          <p:nvPr/>
        </p:nvSpPr>
        <p:spPr>
          <a:xfrm>
            <a:off x="1104900" y="3076575"/>
            <a:ext cx="41917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Focused on lung cancer-related cell lines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104900" y="3438525"/>
            <a:ext cx="53837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Included commonly prescribed chemotherapy drugs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7181850" y="1414463"/>
            <a:ext cx="220116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 Database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6477000" y="2028825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Provided datasets for model validation and survival prediction.</a:t>
            </a:r>
            <a:endParaRPr lang="en-US" sz="1350" dirty="0"/>
          </a:p>
        </p:txBody>
      </p:sp>
      <p:sp>
        <p:nvSpPr>
          <p:cNvPr id="28" name="Text 8"/>
          <p:cNvSpPr/>
          <p:nvPr/>
        </p:nvSpPr>
        <p:spPr>
          <a:xfrm>
            <a:off x="6724650" y="2714625"/>
            <a:ext cx="4629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Validation: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10 datasets with cell line RNA-seq data and drug sensitivity data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6762750" y="3343275"/>
            <a:ext cx="45910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Survival Prediction Validation: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5 datasets with patient RNA-seq data, clinical medication information, and survival data</a:t>
            </a:r>
            <a:endParaRPr lang="en-US" sz="1350" dirty="0"/>
          </a:p>
        </p:txBody>
      </p:sp>
      <p:sp>
        <p:nvSpPr>
          <p:cNvPr id="30" name="Text 10"/>
          <p:cNvSpPr/>
          <p:nvPr/>
        </p:nvSpPr>
        <p:spPr>
          <a:xfrm>
            <a:off x="1066800" y="4848225"/>
            <a:ext cx="10363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Integration: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Multi-omics and clinical data were systematically integrated to develop a comprehensive predictive model for lung cancer chemosensitivity.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790700"/>
            <a:ext cx="270510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81200"/>
            <a:ext cx="40005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95513"/>
            <a:ext cx="171450" cy="9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700" y="1790700"/>
            <a:ext cx="2705100" cy="1676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7100" y="1943100"/>
            <a:ext cx="40005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1400" y="2157413"/>
            <a:ext cx="171450" cy="9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790700"/>
            <a:ext cx="2705100" cy="1676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943100"/>
            <a:ext cx="4191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2157413"/>
            <a:ext cx="190500" cy="95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700" y="1790700"/>
            <a:ext cx="2705100" cy="1676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2100" y="1943100"/>
            <a:ext cx="466725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400" y="2157413"/>
            <a:ext cx="238125" cy="95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19500"/>
            <a:ext cx="2705100" cy="1676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3771900"/>
            <a:ext cx="4191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900" y="3986213"/>
            <a:ext cx="190500" cy="95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700" y="3619500"/>
            <a:ext cx="2705100" cy="1676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7100" y="3810000"/>
            <a:ext cx="4191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81400" y="4024313"/>
            <a:ext cx="190500" cy="95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619500"/>
            <a:ext cx="2705100" cy="1676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3771900"/>
            <a:ext cx="447675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986213"/>
            <a:ext cx="219075" cy="952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700" y="3619500"/>
            <a:ext cx="2705100" cy="1676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2100" y="3771900"/>
            <a:ext cx="4191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96400" y="3986213"/>
            <a:ext cx="190500" cy="952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Machine Learning Models Evaluated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609600" y="9525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study evaluated a total of 45 different machine learning algorithms to predict lung cancer chemosensitivity, including various types of regression and classification models.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123950" y="1943100"/>
            <a:ext cx="1885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Vector Machine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609600" y="25527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Powerful supervised learning model for classification and regression analysis that builds hyperplanes to distinguish data points.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3981450" y="2038350"/>
            <a:ext cx="17537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3467100" y="24765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Ensemble learning method that builds multiple decision trees and combines their results to improve prediction accuracy and stability.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6858000" y="2038350"/>
            <a:ext cx="20241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Ridge Regression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6324600" y="24765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regression method that handles multicollinearity by adding an L2 regularization term to shrink regression coefficients.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9763125" y="2038350"/>
            <a:ext cx="12449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Elastic Net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9182100" y="24765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Combines Lasso and ridge regression penalties, suitable for high-dimensional data with correlated features.</a:t>
            </a:r>
            <a:endParaRPr lang="en-US" sz="1050" dirty="0"/>
          </a:p>
        </p:txBody>
      </p:sp>
      <p:sp>
        <p:nvSpPr>
          <p:cNvPr id="41" name="Text 10"/>
          <p:cNvSpPr/>
          <p:nvPr/>
        </p:nvSpPr>
        <p:spPr>
          <a:xfrm>
            <a:off x="1143000" y="3867150"/>
            <a:ext cx="6563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Lasso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609600" y="4305300"/>
            <a:ext cx="24003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regression with L1 penalty that performs feature selection and model sparsity.</a:t>
            </a:r>
            <a:endParaRPr lang="en-US" sz="1050" dirty="0"/>
          </a:p>
        </p:txBody>
      </p:sp>
      <p:sp>
        <p:nvSpPr>
          <p:cNvPr id="43" name="Text 12"/>
          <p:cNvSpPr/>
          <p:nvPr/>
        </p:nvSpPr>
        <p:spPr>
          <a:xfrm>
            <a:off x="4000500" y="3771900"/>
            <a:ext cx="1866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Gradient Boosting Machine</a:t>
            </a:r>
            <a:endParaRPr lang="en-US" sz="1350" dirty="0"/>
          </a:p>
        </p:txBody>
      </p:sp>
      <p:sp>
        <p:nvSpPr>
          <p:cNvPr id="44" name="Text 13"/>
          <p:cNvSpPr/>
          <p:nvPr/>
        </p:nvSpPr>
        <p:spPr>
          <a:xfrm>
            <a:off x="3467100" y="43815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Ensemble technique that iteratively trains weak predictors (usually decision trees) to optimize the model.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6886575" y="3867150"/>
            <a:ext cx="9310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plsRglm</a:t>
            </a:r>
            <a:endParaRPr lang="en-US" sz="1350" dirty="0"/>
          </a:p>
        </p:txBody>
      </p:sp>
      <p:sp>
        <p:nvSpPr>
          <p:cNvPr id="46" name="Text 15"/>
          <p:cNvSpPr/>
          <p:nvPr/>
        </p:nvSpPr>
        <p:spPr>
          <a:xfrm>
            <a:off x="6324600" y="43053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Partial least squares regression suitable when predictors outnumber observations or when multicollinearity exists.</a:t>
            </a: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9715500" y="3867150"/>
            <a:ext cx="9879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endParaRPr lang="en-US" sz="1350" dirty="0"/>
          </a:p>
        </p:txBody>
      </p:sp>
      <p:sp>
        <p:nvSpPr>
          <p:cNvPr id="48" name="Text 17"/>
          <p:cNvSpPr/>
          <p:nvPr/>
        </p:nvSpPr>
        <p:spPr>
          <a:xfrm>
            <a:off x="9182100" y="4305300"/>
            <a:ext cx="24003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Efficient, flexible and portable gradient boosting framework that performs well on many machine learning tasks.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52500"/>
            <a:ext cx="2419350" cy="17621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650" y="1104900"/>
            <a:ext cx="5524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3525" y="1247775"/>
            <a:ext cx="2667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0850" y="9525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9950" y="952500"/>
            <a:ext cx="2419350" cy="2028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0" y="1104900"/>
            <a:ext cx="666750" cy="6191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9125" y="1247775"/>
            <a:ext cx="3810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9525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952500"/>
            <a:ext cx="2419350" cy="17621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7100" y="1104900"/>
            <a:ext cx="590550" cy="6191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9975" y="1247775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6350" y="95250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952500"/>
            <a:ext cx="2419350" cy="20288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8900" y="1104900"/>
            <a:ext cx="552450" cy="6191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91775" y="1247775"/>
            <a:ext cx="2667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3362325"/>
            <a:ext cx="11430000" cy="2743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63138"/>
            <a:ext cx="12192000" cy="762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Methodology: Overall Workflow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398145" y="1838325"/>
            <a:ext cx="2537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609600" y="2105025"/>
            <a:ext cx="2114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Multi-omics and clinical data from public databases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3562350" y="1838325"/>
            <a:ext cx="2114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3562350" y="2371725"/>
            <a:ext cx="2114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and validation of machine learning models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6303645" y="1838325"/>
            <a:ext cx="2537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Validation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6515100" y="2105025"/>
            <a:ext cx="2114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using patient survival information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9467850" y="1838325"/>
            <a:ext cx="2114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Experimental Validation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9467850" y="2371725"/>
            <a:ext cx="2114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line experiments to confirm findings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09600" y="3590925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Multi-Stage Approach</a:t>
            </a:r>
            <a:endParaRPr lang="en-US" sz="1800" dirty="0"/>
          </a:p>
        </p:txBody>
      </p:sp>
      <p:sp>
        <p:nvSpPr>
          <p:cNvPr id="33" name="Text 10"/>
          <p:cNvSpPr/>
          <p:nvPr/>
        </p:nvSpPr>
        <p:spPr>
          <a:xfrm>
            <a:off x="647700" y="4048125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collection of multi-omics data from GDSC and GEO databases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647700" y="4657725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Systematic evaluation of 45 different machine learning algorithms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647700" y="5267325"/>
            <a:ext cx="6400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Cross-validation to assess model performance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6248400" y="4048125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validation using 10 datasets containing cell line data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6248400" y="4657725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Additional validation with 5 datasets containing patient survival data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6248400" y="5267325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 vitro cell line experiments to biologically confirm gene involvement</a:t>
            </a:r>
            <a:endParaRPr lang="en-US" sz="1350" dirty="0"/>
          </a:p>
        </p:txBody>
      </p:sp>
      <p:sp>
        <p:nvSpPr>
          <p:cNvPr id="39" name="Text 16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7/20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52500"/>
            <a:ext cx="10972800" cy="1066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247775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481138"/>
            <a:ext cx="171450" cy="9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209800"/>
            <a:ext cx="5410200" cy="2514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486025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2719388"/>
            <a:ext cx="190500" cy="9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36232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063" y="3595688"/>
            <a:ext cx="238125" cy="95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209800"/>
            <a:ext cx="5410200" cy="2514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486025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7475" y="2719388"/>
            <a:ext cx="190500" cy="95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590925"/>
            <a:ext cx="41910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824288"/>
            <a:ext cx="190500" cy="95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914900"/>
            <a:ext cx="10972800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095875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0588" y="5329238"/>
            <a:ext cx="219075" cy="95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Methodology: Model Training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1390650" y="1104900"/>
            <a:ext cx="49147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390650" y="1371600"/>
            <a:ext cx="5897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Genomics of Drug Sensitivity in Cancer (GDSC) Database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390650" y="1638300"/>
            <a:ext cx="58977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RNA-seq data and drug IC50 values for cell lines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390650" y="2362200"/>
            <a:ext cx="43236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Splitting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390650" y="2628900"/>
            <a:ext cx="51883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division of data into training and validation sets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390650" y="2857500"/>
            <a:ext cx="43236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Ratio: 7:3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1390650" y="3238500"/>
            <a:ext cx="4118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Algorithm Selection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1390650" y="3505200"/>
            <a:ext cx="49424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Evaluation of </a:t>
            </a:r>
            <a:r>
              <a:rPr lang="en-US" sz="1200" b="1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45 different ML algorithms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1390650" y="3733800"/>
            <a:ext cx="49424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Including SVM, Random Forest, Ridge Regression, etc.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953250" y="2362200"/>
            <a:ext cx="41990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Building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6953250" y="2628900"/>
            <a:ext cx="50388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IC50 prediction models based on gene expression data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6953250" y="2857500"/>
            <a:ext cx="50388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Using cross-validation methods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6896100" y="32385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6896100" y="35052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Assessment of gene performance in contributing to the model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6896100" y="39624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Calculation of correlation coefficient (R) between predicted and actual IC50 values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1390650" y="5067300"/>
            <a:ext cx="76854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Model Selection</a:t>
            </a:r>
            <a:endParaRPr lang="en-US" sz="1500" dirty="0"/>
          </a:p>
        </p:txBody>
      </p:sp>
      <p:sp>
        <p:nvSpPr>
          <p:cNvPr id="40" name="Text 17"/>
          <p:cNvSpPr/>
          <p:nvPr/>
        </p:nvSpPr>
        <p:spPr>
          <a:xfrm>
            <a:off x="1390650" y="5334000"/>
            <a:ext cx="92225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with the highest mean R-value for each drug was selected as the optimal predictor</a:t>
            </a:r>
            <a:endParaRPr lang="en-US" sz="1350" dirty="0"/>
          </a:p>
        </p:txBody>
      </p:sp>
      <p:sp>
        <p:nvSpPr>
          <p:cNvPr id="41" name="Text 18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8/20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52500"/>
            <a:ext cx="5524500" cy="2362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181100"/>
            <a:ext cx="20002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562100"/>
            <a:ext cx="4191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1776413"/>
            <a:ext cx="190500" cy="95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2400300"/>
            <a:ext cx="40005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2614613"/>
            <a:ext cx="171450" cy="9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952500"/>
            <a:ext cx="5524500" cy="2362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1811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562100"/>
            <a:ext cx="40005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1776413"/>
            <a:ext cx="171450" cy="95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400300"/>
            <a:ext cx="466725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2614613"/>
            <a:ext cx="238125" cy="95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3467100"/>
            <a:ext cx="11277600" cy="17049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" y="3695700"/>
            <a:ext cx="25717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" y="411480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30601" y="4114800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13650" y="41148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Methodology: Clinical Validation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923925" y="11430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Datasets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285875" y="1562100"/>
            <a:ext cx="4505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Line Data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1285875" y="1828800"/>
            <a:ext cx="45053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datasets from GEO with RNA-seq and drug sensitivity data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266825" y="2400300"/>
            <a:ext cx="4524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 Data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1266825" y="2667000"/>
            <a:ext cx="45243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datasets with RNA-seq, clinical medication info, and survival data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6705600" y="11430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Approach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7019925" y="1562100"/>
            <a:ext cx="4524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Application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7019925" y="1828800"/>
            <a:ext cx="45243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Applied optimized prediction models to estimate IC50 values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7086600" y="2400300"/>
            <a:ext cx="5349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 Stratification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7086600" y="26670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optimal cutoff method to classify patients as sensitive or resistant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981075" y="3657600"/>
            <a:ext cx="10896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Validation Workflow</a:t>
            </a:r>
            <a:endParaRPr lang="en-US" sz="1800" dirty="0"/>
          </a:p>
        </p:txBody>
      </p:sp>
      <p:sp>
        <p:nvSpPr>
          <p:cNvPr id="36" name="Text 12"/>
          <p:cNvSpPr/>
          <p:nvPr/>
        </p:nvSpPr>
        <p:spPr>
          <a:xfrm>
            <a:off x="933450" y="4114800"/>
            <a:ext cx="3893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933450" y="4381500"/>
            <a:ext cx="32447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Load and preprocess RNA-seq and drug sensitivity data from GEO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4616351" y="4114800"/>
            <a:ext cx="3893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39" name="Text 15"/>
          <p:cNvSpPr/>
          <p:nvPr/>
        </p:nvSpPr>
        <p:spPr>
          <a:xfrm>
            <a:off x="4616351" y="4381500"/>
            <a:ext cx="324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estimated IC50s between drug-sensitive and drug-resistant groups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8299400" y="4114800"/>
            <a:ext cx="3893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Survival Analysis</a:t>
            </a:r>
            <a:endParaRPr lang="en-US" sz="1350" dirty="0"/>
          </a:p>
        </p:txBody>
      </p:sp>
      <p:sp>
        <p:nvSpPr>
          <p:cNvPr id="41" name="Text 17"/>
          <p:cNvSpPr/>
          <p:nvPr/>
        </p:nvSpPr>
        <p:spPr>
          <a:xfrm>
            <a:off x="8299400" y="4381500"/>
            <a:ext cx="32447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Kaplan-Meier curves to analyze survival differences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11513344" y="6496050"/>
            <a:ext cx="4486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9/20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52500"/>
            <a:ext cx="5372100" cy="457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181100"/>
            <a:ext cx="1714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885950"/>
            <a:ext cx="1609130" cy="24392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" y="192405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6380" y="1885950"/>
            <a:ext cx="1271290" cy="24392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2580" y="192405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5770" y="1885950"/>
            <a:ext cx="1696343" cy="24392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1970" y="192405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" y="2167979"/>
            <a:ext cx="1593800" cy="24392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" y="2206079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952500"/>
            <a:ext cx="5372100" cy="457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1811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524000"/>
            <a:ext cx="40005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05600" y="1738313"/>
            <a:ext cx="171450" cy="95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2400300"/>
            <a:ext cx="4191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5600" y="2614613"/>
            <a:ext cx="190500" cy="95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1300" y="3276600"/>
            <a:ext cx="4191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05600" y="3490913"/>
            <a:ext cx="190500" cy="95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4152900"/>
            <a:ext cx="371475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05600" y="4367213"/>
            <a:ext cx="142875" cy="952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Methodology: Cell Line Experiments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1047750" y="114300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Lines &amp; Treatment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800100" y="1524000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Lines Used: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1047750" y="1885950"/>
            <a:ext cx="1930956" cy="243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NSCLC (NCI-H460)</a:t>
            </a:r>
            <a:endParaRPr lang="en-US" sz="1080" dirty="0"/>
          </a:p>
        </p:txBody>
      </p:sp>
      <p:sp>
        <p:nvSpPr>
          <p:cNvPr id="31" name="Text 4"/>
          <p:cNvSpPr/>
          <p:nvPr/>
        </p:nvSpPr>
        <p:spPr>
          <a:xfrm>
            <a:off x="2694980" y="1885950"/>
            <a:ext cx="1525548" cy="243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NSCLC (PC-9)</a:t>
            </a:r>
            <a:endParaRPr lang="en-US" sz="1080" dirty="0"/>
          </a:p>
        </p:txBody>
      </p:sp>
      <p:sp>
        <p:nvSpPr>
          <p:cNvPr id="32" name="Text 5"/>
          <p:cNvSpPr/>
          <p:nvPr/>
        </p:nvSpPr>
        <p:spPr>
          <a:xfrm>
            <a:off x="4004370" y="1885950"/>
            <a:ext cx="2035612" cy="243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NSCLC (NCI-H1299)</a:t>
            </a:r>
            <a:endParaRPr lang="en-US" sz="1080" dirty="0"/>
          </a:p>
        </p:txBody>
      </p:sp>
      <p:sp>
        <p:nvSpPr>
          <p:cNvPr id="33" name="Text 6"/>
          <p:cNvSpPr/>
          <p:nvPr/>
        </p:nvSpPr>
        <p:spPr>
          <a:xfrm>
            <a:off x="1047750" y="2167979"/>
            <a:ext cx="1912560" cy="243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SCLC (NCI-H1339)</a:t>
            </a:r>
            <a:endParaRPr lang="en-US" sz="1080" dirty="0"/>
          </a:p>
        </p:txBody>
      </p:sp>
      <p:sp>
        <p:nvSpPr>
          <p:cNvPr id="34" name="Text 7"/>
          <p:cNvSpPr/>
          <p:nvPr/>
        </p:nvSpPr>
        <p:spPr>
          <a:xfrm>
            <a:off x="800100" y="2583359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Chemotherapeutic Agents:</a:t>
            </a:r>
            <a:endParaRPr lang="en-US" sz="1350" dirty="0"/>
          </a:p>
        </p:txBody>
      </p:sp>
      <p:sp>
        <p:nvSpPr>
          <p:cNvPr id="35" name="Text 8"/>
          <p:cNvSpPr/>
          <p:nvPr/>
        </p:nvSpPr>
        <p:spPr>
          <a:xfrm>
            <a:off x="819150" y="2926259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Cisplatin (DDP)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819150" y="3154859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Etoposide (VP-16)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819150" y="3383459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Gemcitabine (GEM)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819150" y="3612059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Epirubicin (EPI)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819150" y="3840659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5-Fluorouracil (5-FU)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6667500" y="1143000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Experimental Workflow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7143750" y="1524000"/>
            <a:ext cx="509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siRNA-mediated Knockdown</a:t>
            </a:r>
            <a:endParaRPr lang="en-US" sz="1350" dirty="0"/>
          </a:p>
        </p:txBody>
      </p:sp>
      <p:sp>
        <p:nvSpPr>
          <p:cNvPr id="42" name="Text 15"/>
          <p:cNvSpPr/>
          <p:nvPr/>
        </p:nvSpPr>
        <p:spPr>
          <a:xfrm>
            <a:off x="7143750" y="17907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Silencing of TMED4 and DYNLRB1 genes identified in the machine learning model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7162800" y="2400300"/>
            <a:ext cx="4229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Drug Treatment</a:t>
            </a:r>
            <a:endParaRPr lang="en-US" sz="1350" dirty="0"/>
          </a:p>
        </p:txBody>
      </p:sp>
      <p:sp>
        <p:nvSpPr>
          <p:cNvPr id="44" name="Text 17"/>
          <p:cNvSpPr/>
          <p:nvPr/>
        </p:nvSpPr>
        <p:spPr>
          <a:xfrm>
            <a:off x="7162800" y="2667000"/>
            <a:ext cx="4229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Exposing cells to varying concentrations of chemotherapeutic agents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7162800" y="3276600"/>
            <a:ext cx="5074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Viability Assessment</a:t>
            </a:r>
            <a:endParaRPr lang="en-US" sz="1350" dirty="0"/>
          </a:p>
        </p:txBody>
      </p:sp>
      <p:sp>
        <p:nvSpPr>
          <p:cNvPr id="46" name="Text 19"/>
          <p:cNvSpPr/>
          <p:nvPr/>
        </p:nvSpPr>
        <p:spPr>
          <a:xfrm>
            <a:off x="7162800" y="3543300"/>
            <a:ext cx="4229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Using CCK-8 colorimetric assay to measure cell viability after 48 hours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7115175" y="4152900"/>
            <a:ext cx="42767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Analysis</a:t>
            </a:r>
            <a:endParaRPr lang="en-US" sz="1350" dirty="0"/>
          </a:p>
        </p:txBody>
      </p:sp>
      <p:sp>
        <p:nvSpPr>
          <p:cNvPr id="48" name="Text 21"/>
          <p:cNvSpPr/>
          <p:nvPr/>
        </p:nvSpPr>
        <p:spPr>
          <a:xfrm>
            <a:off x="7115175" y="4419600"/>
            <a:ext cx="42767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Nonlinear regression to generate drug concentration-cell viability curves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7115175" y="4876800"/>
            <a:ext cx="42767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Calculation of IC50 values to evaluate chemosensitivity changes</a:t>
            </a:r>
            <a:endParaRPr lang="en-US" sz="1200" dirty="0"/>
          </a:p>
        </p:txBody>
      </p:sp>
      <p:sp>
        <p:nvSpPr>
          <p:cNvPr id="50" name="Text 23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10/20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04900"/>
            <a:ext cx="1097280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8369" y="3009900"/>
            <a:ext cx="1885504" cy="514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1244" y="3252788"/>
            <a:ext cx="171450" cy="9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4372" y="3143250"/>
            <a:ext cx="2095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4422" y="3009900"/>
            <a:ext cx="2655243" cy="514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7297" y="3252788"/>
            <a:ext cx="171450" cy="9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0165" y="3143250"/>
            <a:ext cx="2095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0215" y="3009900"/>
            <a:ext cx="2093416" cy="514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53090" y="3252788"/>
            <a:ext cx="190500" cy="95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843338"/>
            <a:ext cx="628650" cy="6191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986213"/>
            <a:ext cx="3429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3843338"/>
            <a:ext cx="590550" cy="6191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3175" y="3986213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062538"/>
            <a:ext cx="590550" cy="6191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2475" y="5205413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0300" y="5062538"/>
            <a:ext cx="514350" cy="6191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53175" y="5205413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Results: Best Performing Model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838200" y="1333500"/>
            <a:ext cx="1051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Model Excellence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838200" y="1790700"/>
            <a:ext cx="10515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 integrated model combining Random Forest (RF) and Support Vector Machine (SVM) algorithms demonstrated superior performance in predicting lung cancer chemosensitivity.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1999818" y="3009900"/>
            <a:ext cx="2262604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Random Forest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4398898" y="3009900"/>
            <a:ext cx="3186291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Support Vector Machine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7700873" y="3009900"/>
            <a:ext cx="251210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Integrated Model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1428750" y="3752850"/>
            <a:ext cx="5463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Superior Performance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1428750" y="4019550"/>
            <a:ext cx="4552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predictive capabilities across both training and validation datasets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6991350" y="375285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991350" y="40195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performance indicates reliability in forecasting chemosensitivity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1390650" y="4972050"/>
            <a:ext cx="5509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Analysis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1390650" y="52387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Evaluated 45 different machine learning algorithms to identify the best approach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6915150" y="497205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Foundation for Discovery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6915150" y="523875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Provided basis for identifying key genetic factors in chemotherapy response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11/20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43000"/>
            <a:ext cx="17145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676400"/>
            <a:ext cx="5334000" cy="3476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905000"/>
            <a:ext cx="552450" cy="6191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2047875"/>
            <a:ext cx="2667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467225"/>
            <a:ext cx="39624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4733925"/>
            <a:ext cx="39624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0555" y="1676400"/>
            <a:ext cx="5334000" cy="34766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905000"/>
            <a:ext cx="552450" cy="6191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2047875"/>
            <a:ext cx="2667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1400" y="4467225"/>
            <a:ext cx="39624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1400" y="4733925"/>
            <a:ext cx="39624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457825"/>
            <a:ext cx="109728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638800"/>
            <a:ext cx="1333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Results: Key Predictive Genes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857250" y="11049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Machine learning model identified two pivotal genes associated with lung cancer chemosensitivity: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543050" y="2062163"/>
            <a:ext cx="10662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TMED4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838200" y="2676525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Findings:</a:t>
            </a:r>
            <a:endParaRPr lang="en-US" sz="1350" dirty="0"/>
          </a:p>
        </p:txBody>
      </p:sp>
      <p:sp>
        <p:nvSpPr>
          <p:cNvPr id="24" name="Text 4"/>
          <p:cNvSpPr/>
          <p:nvPr/>
        </p:nvSpPr>
        <p:spPr>
          <a:xfrm>
            <a:off x="876300" y="3019425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Significantly higher expression in chemotherapy-resistant samples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76300" y="3552825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Critical role in mediating drug resistance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76300" y="3857625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predictor of treatment outcomes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838200" y="4238625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Expression Level Comparison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838200" y="44672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Sensitive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838200" y="47339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Resistant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7181850" y="2062163"/>
            <a:ext cx="142196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DYNLRB1</a:t>
            </a:r>
            <a:endParaRPr lang="en-US" sz="1800" dirty="0"/>
          </a:p>
        </p:txBody>
      </p:sp>
      <p:sp>
        <p:nvSpPr>
          <p:cNvPr id="31" name="Text 11"/>
          <p:cNvSpPr/>
          <p:nvPr/>
        </p:nvSpPr>
        <p:spPr>
          <a:xfrm>
            <a:off x="6477000" y="2676525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Findings: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6515100" y="3019425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Significantly higher expression in chemotherapy-resistant samples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515100" y="3552825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Associated with cellular response mechanisms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515100" y="3857625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Correlates with patient survival outcomes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477000" y="4238625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Expression Level Comparison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6477000" y="44672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Sensitive</a:t>
            </a:r>
            <a:endParaRPr lang="en-US" sz="1050" dirty="0"/>
          </a:p>
        </p:txBody>
      </p:sp>
      <p:sp>
        <p:nvSpPr>
          <p:cNvPr id="37" name="Text 17"/>
          <p:cNvSpPr/>
          <p:nvPr/>
        </p:nvSpPr>
        <p:spPr>
          <a:xfrm>
            <a:off x="6477000" y="47339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Resistant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971550" y="5610225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Significance: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These genes serve as potential biomarkers for predicting chemotherapy response and may represent novel therapeutic targets.</a:t>
            </a:r>
            <a:endParaRPr lang="en-US" sz="1350" dirty="0"/>
          </a:p>
        </p:txBody>
      </p:sp>
      <p:sp>
        <p:nvSpPr>
          <p:cNvPr id="39" name="Text 19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12/20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48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4355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52500"/>
            <a:ext cx="109728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628900"/>
            <a:ext cx="10972800" cy="3162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314700"/>
            <a:ext cx="105156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314700"/>
            <a:ext cx="105156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2885" y="5300663"/>
            <a:ext cx="190500" cy="28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9622" y="5300663"/>
            <a:ext cx="190500" cy="28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943600"/>
            <a:ext cx="590550" cy="6191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" y="6086475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6753225"/>
            <a:ext cx="666750" cy="6191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6896100"/>
            <a:ext cx="3810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7372350"/>
            <a:ext cx="12192000" cy="76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Results: Survival Analysis Findings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838200" y="1181100"/>
            <a:ext cx="1051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838200" y="1562100"/>
            <a:ext cx="10515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Patients predicted to be chemotherapy-sensitive showed significantly improved overall survival compared to resistant cases.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838200" y="2857500"/>
            <a:ext cx="1051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Conceptual Survival Curve Comparison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9511010" y="52197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Sensitive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10547747" y="5219700"/>
            <a:ext cx="7386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Resistant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1390650" y="5986463"/>
            <a:ext cx="718036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Significance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390650" y="6253163"/>
            <a:ext cx="86164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model effectively stratifies patients based on their likely response to treatment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1466850" y="6796088"/>
            <a:ext cx="73905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Prognostic Value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1466850" y="7062788"/>
            <a:ext cx="88686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Findings provide valuable prognostic information for personalized treatment decisions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11407378" y="708660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13/20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962025"/>
            <a:ext cx="10972800" cy="10001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143000"/>
            <a:ext cx="5524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1285875"/>
            <a:ext cx="2667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181225"/>
            <a:ext cx="5372100" cy="1828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37172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2181225"/>
            <a:ext cx="5372100" cy="1828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371725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238625"/>
            <a:ext cx="10972800" cy="1752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429125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725" y="4848225"/>
            <a:ext cx="820936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0586" y="4848225"/>
            <a:ext cx="101858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Results: Gene Knockdown Effects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1543050" y="1166813"/>
            <a:ext cx="85408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siRNA-mediated Gene Silencing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543050" y="1471613"/>
            <a:ext cx="85408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TMED4 and DYNLRB1 expression was successfully reduced in lung cancer cell lines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1104900" y="2371725"/>
            <a:ext cx="22524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Line Analysis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914400" y="2752725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siRNA knockdown confirmed gene expression reduction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914400" y="3057525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chemosensitivity observed in treated cells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914400" y="336232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difference in drug response compared to control groups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686550" y="2371725"/>
            <a:ext cx="2906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Drug Response Effects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6515100" y="2752725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Increased sensitivity to cisplatin (DDP)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6515100" y="3057525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response to etoposide (VP-16)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515100" y="3362325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chemosensitivity across multiple drug classes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1085850" y="4448175"/>
            <a:ext cx="30777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Significance of Findings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962025" y="4848225"/>
            <a:ext cx="98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TMED4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1944886" y="4848225"/>
            <a:ext cx="122229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DC18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DYNLRB1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800100" y="5267325"/>
            <a:ext cx="10591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Genetic intervention led to enhanced chemosensitivity, directly supporting the role of these genes in mediating chemotherapy resistance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14/20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52500"/>
            <a:ext cx="10972800" cy="1295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438400"/>
            <a:ext cx="5410200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562225"/>
            <a:ext cx="660202" cy="666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501" y="2743200"/>
            <a:ext cx="3429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438400"/>
            <a:ext cx="5410200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2562225"/>
            <a:ext cx="666750" cy="666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27432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648075"/>
            <a:ext cx="5410200" cy="857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3743325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39243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3648075"/>
            <a:ext cx="5410200" cy="857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7450" y="3743325"/>
            <a:ext cx="666750" cy="6667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8425" y="39243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800600"/>
            <a:ext cx="10972800" cy="857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50" y="4895850"/>
            <a:ext cx="666750" cy="6667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5825" y="5076825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49650" y="5991225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Results: Validation Across Drug Types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800100" y="1143000"/>
            <a:ext cx="12710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Performance Across Chemotherapeutic Agents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800100" y="1524000"/>
            <a:ext cx="10591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machine learning model demonstrated consistent predictive ability across various drug classes used in lung cancer treatment.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1507927" y="2533650"/>
            <a:ext cx="44166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Cisplatin (DDP)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1507927" y="2800350"/>
            <a:ext cx="441662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Predicted response correlates with experimental validation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7077075" y="2647950"/>
            <a:ext cx="46673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Etoposide (VP-16)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7077075" y="2914650"/>
            <a:ext cx="466736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predictive performance across cell lines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514475" y="3829050"/>
            <a:ext cx="4204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Gemcitabine (GEM)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1514475" y="4095750"/>
            <a:ext cx="50450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 prediction across diverse lung cancer cell types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7077075" y="3829050"/>
            <a:ext cx="42929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Epirubicin (EPI)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7077075" y="4095750"/>
            <a:ext cx="51515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shows consistent accuracy in predicting response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1514475" y="4981575"/>
            <a:ext cx="58273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5-Fluorouracil (5-FU)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1514475" y="5248275"/>
            <a:ext cx="58273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confirms model's versatility across drug mechanisms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3435400" y="5953125"/>
            <a:ext cx="672816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predictive performance across all drug classes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15/20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970B-72AC-FA9A-1769-0E712FC0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172DA04-7D56-3CB1-D6E2-0CE72141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D35F514-759C-72CB-9067-FE9F011B0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7EC07C0-2F31-D5A3-1EAE-954397A29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39A667E-584E-60F9-2D05-4B616FE2B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4CECFC1A-5C71-9602-5154-1631ADAE6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475" y="2071688"/>
            <a:ext cx="190500" cy="9525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B58A97F1-C443-B5DC-261F-736F6CB2E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56AB4D1D-0841-5CA7-3B50-54F61A5E5EC0}"/>
              </a:ext>
            </a:extLst>
          </p:cNvPr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Results : overview </a:t>
            </a:r>
            <a:endParaRPr lang="en-US" sz="22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F0B5DAB-EAB2-7049-E78C-50C23CE2AE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741640"/>
            <a:ext cx="4684191" cy="585523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F0BF0D3-F67E-6228-D166-37F846A3C636}"/>
              </a:ext>
            </a:extLst>
          </p:cNvPr>
          <p:cNvSpPr txBox="1"/>
          <p:nvPr/>
        </p:nvSpPr>
        <p:spPr>
          <a:xfrm>
            <a:off x="11163300" y="6381751"/>
            <a:ext cx="4541674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16/20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00052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52500"/>
            <a:ext cx="4953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066800"/>
            <a:ext cx="2667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676400"/>
            <a:ext cx="5372100" cy="1314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8288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193357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676400"/>
            <a:ext cx="5372100" cy="1314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18288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1288" y="1933575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371850"/>
            <a:ext cx="10972800" cy="148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010150"/>
            <a:ext cx="10972800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162550"/>
            <a:ext cx="1714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Discussion: Biological Significance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1257300" y="952500"/>
            <a:ext cx="787092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Genes Identified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257300" y="1257300"/>
            <a:ext cx="94451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TMED4 and DYNLRB1 exhibit higher expression in chemotherapy-resistant lung cancer cells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1390650" y="1933575"/>
            <a:ext cx="27262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Functional Validation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762000" y="2381250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siRNA-mediated knockdown of TMED4 and DYNLRB1 enhanced chemosensitivity, confirming their role in mediating resistance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6991350" y="1933575"/>
            <a:ext cx="27967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Therapeutic Potential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6362700" y="2381250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Genetic interference with these genes could serve as a novel approach to overcome drug resistance in lung cancer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62000" y="352425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Biological Insights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800100" y="3867150"/>
            <a:ext cx="12755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identified genes are involved in cellular mechanisms that regulate drug response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800100" y="4171950"/>
            <a:ext cx="12755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Expression levels correlate with patient survival outcomes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800100" y="4476750"/>
            <a:ext cx="12755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genes represent potential biomarkers for treatment response prediction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1047750" y="5181600"/>
            <a:ext cx="25903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Implications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762000" y="5543550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Targeting TMED4 and DYNLRB1 could enhance treatment efficacy and overcome resistance mechanisms, offering new avenues for personalized lung cancer therapy.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17/20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52500"/>
            <a:ext cx="5372100" cy="4229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638300"/>
            <a:ext cx="5524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1781175"/>
            <a:ext cx="2667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590800"/>
            <a:ext cx="590550" cy="6191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2733675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543300"/>
            <a:ext cx="590550" cy="6191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3686175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952500"/>
            <a:ext cx="5372100" cy="422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371600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4743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Discussion: Clinical Applications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838200" y="1181100"/>
            <a:ext cx="4914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Impact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581150" y="1638300"/>
            <a:ext cx="5006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Personalized Chemotherapy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581150" y="1905000"/>
            <a:ext cx="4171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Assists clinicians in creating more precise and personalized chemotherapy plans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1619250" y="2590800"/>
            <a:ext cx="4133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Outcomes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619250" y="2857500"/>
            <a:ext cx="41338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treatment effectiveness while reducing unnecessary toxic side effects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1619250" y="3543300"/>
            <a:ext cx="4960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Avoiding Trial and Error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619250" y="3810000"/>
            <a:ext cx="41338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Predicts patient responses to specific chemotherapy drugs, avoiding ineffective treatments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6781800" y="1181100"/>
            <a:ext cx="49149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LC-DrugPortal: Online Prediction Tool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6438900" y="1943100"/>
            <a:ext cx="4914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user-friendly web application developed to facilitate clinical implementation of our machine learning model.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6438900" y="2705100"/>
            <a:ext cx="5897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Workflow Integration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6743700" y="30861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1: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Input patient data and drug information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6743700" y="3505200"/>
            <a:ext cx="4610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2: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Receive personalized drug sensitivity predictions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6743700" y="41910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3: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Make informed treatment decisions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6667500" y="4686300"/>
            <a:ext cx="54944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Promotes precision medicine for lung cancer patients</a:t>
            </a:r>
            <a:endParaRPr lang="en-US" sz="1350" dirty="0"/>
          </a:p>
        </p:txBody>
      </p:sp>
      <p:sp>
        <p:nvSpPr>
          <p:cNvPr id="32" name="Text 15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18/20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52500"/>
            <a:ext cx="5410200" cy="41814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1430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600200"/>
            <a:ext cx="5029200" cy="28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1781175"/>
            <a:ext cx="4191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995487"/>
            <a:ext cx="190500" cy="95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886075"/>
            <a:ext cx="40005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100388"/>
            <a:ext cx="171450" cy="9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3990975"/>
            <a:ext cx="447675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205288"/>
            <a:ext cx="219075" cy="95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952500"/>
            <a:ext cx="5410200" cy="41814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1143000"/>
            <a:ext cx="1714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1600200"/>
            <a:ext cx="5029200" cy="285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1781175"/>
            <a:ext cx="4191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1995487"/>
            <a:ext cx="190500" cy="95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2886075"/>
            <a:ext cx="4191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3100388"/>
            <a:ext cx="190500" cy="95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3990975"/>
            <a:ext cx="447675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9400" y="4205288"/>
            <a:ext cx="219075" cy="95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Discussion: Limitations and Future Directions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990600" y="1143000"/>
            <a:ext cx="173718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209675" y="1781175"/>
            <a:ext cx="44672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Retrospective Data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209675" y="2047875"/>
            <a:ext cx="44672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primarily trained and validated on retrospective data, requiring independent validation in larger prospective clinical cohorts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190625" y="2886075"/>
            <a:ext cx="53835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Complex Resistance Mechanisms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1190625" y="3152775"/>
            <a:ext cx="44862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Lung cancer chemotherapy resistance is complex and may involve more biomarkers and signaling pathways not yet discovered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238250" y="3990975"/>
            <a:ext cx="5326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Integration Challenges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1238250" y="4257675"/>
            <a:ext cx="4438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integration of multi-dimensional data types despite efforts to combine genomics, transcriptomics, and clinical information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800850" y="1143000"/>
            <a:ext cx="269015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7077075" y="1781175"/>
            <a:ext cx="5360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 Interaction Studies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7077075" y="2047875"/>
            <a:ext cx="44672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Further explore interactions between identified genes and other molecular mechanisms, considering their role in chemotherapy resistance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7077075" y="2886075"/>
            <a:ext cx="5360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Multi-Omics Integration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7077075" y="3152775"/>
            <a:ext cx="44672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more data dimensions including proteomics, metabolomics, and patient immune microenvironment information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7105650" y="3990975"/>
            <a:ext cx="5326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Implementation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7105650" y="4257675"/>
            <a:ext cx="4438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integrate with clinical decision support systems and conduct clinical trials to assess actual improvement in patient outcomes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19/20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39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3405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04900"/>
            <a:ext cx="5372100" cy="32099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333500"/>
            <a:ext cx="590550" cy="619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1476375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20955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2705100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31470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104900"/>
            <a:ext cx="5372100" cy="32099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333500"/>
            <a:ext cx="552450" cy="6191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1775" y="1476375"/>
            <a:ext cx="2667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20955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27051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331470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543425"/>
            <a:ext cx="5372100" cy="29432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4772025"/>
            <a:ext cx="628650" cy="6191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075" y="4914900"/>
            <a:ext cx="3429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5534025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6143625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6753225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4543425"/>
            <a:ext cx="5372100" cy="294322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4772025"/>
            <a:ext cx="514350" cy="61912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1775" y="4914900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5534025"/>
            <a:ext cx="17145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5876925"/>
            <a:ext cx="171450" cy="1714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6486525"/>
            <a:ext cx="171450" cy="171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7562850"/>
            <a:ext cx="121920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1581150" y="1333500"/>
            <a:ext cx="38429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High-Performance Model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1504950" y="2066925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Successfully developed a machine learning model integrating multi-omics and clinical data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1504950" y="2676525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Demonstrated superior predictive capabilities for lung cancer chemosensitivity</a:t>
            </a:r>
            <a:endParaRPr lang="en-US" sz="1350" dirty="0"/>
          </a:p>
        </p:txBody>
      </p:sp>
      <p:sp>
        <p:nvSpPr>
          <p:cNvPr id="35" name="Text 4"/>
          <p:cNvSpPr/>
          <p:nvPr/>
        </p:nvSpPr>
        <p:spPr>
          <a:xfrm>
            <a:off x="1504950" y="3286125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Achieved accurate prediction of chemotherapy response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7143750" y="1333500"/>
            <a:ext cx="32102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Genes Identified</a:t>
            </a:r>
            <a:endParaRPr lang="en-US" sz="1800" dirty="0"/>
          </a:p>
        </p:txBody>
      </p:sp>
      <p:sp>
        <p:nvSpPr>
          <p:cNvPr id="37" name="Text 6"/>
          <p:cNvSpPr/>
          <p:nvPr/>
        </p:nvSpPr>
        <p:spPr>
          <a:xfrm>
            <a:off x="7105650" y="2066925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Identified TMED4 and DYNLRB1 as pivotal genes in chemotherapy resistance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7105650" y="2676525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Revealed higher expression levels in chemotherapy-resistant samples</a:t>
            </a:r>
            <a:endParaRPr lang="en-US" sz="1350" dirty="0"/>
          </a:p>
        </p:txBody>
      </p:sp>
      <p:sp>
        <p:nvSpPr>
          <p:cNvPr id="39" name="Text 8"/>
          <p:cNvSpPr/>
          <p:nvPr/>
        </p:nvSpPr>
        <p:spPr>
          <a:xfrm>
            <a:off x="7105650" y="3286125"/>
            <a:ext cx="4495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Validated through cell line experiments showing enhanced chemosensitivity when genes were silenced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1619250" y="4772025"/>
            <a:ext cx="22792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Impact</a:t>
            </a:r>
            <a:endParaRPr lang="en-US" sz="1800" dirty="0"/>
          </a:p>
        </p:txBody>
      </p:sp>
      <p:sp>
        <p:nvSpPr>
          <p:cNvPr id="41" name="Text 10"/>
          <p:cNvSpPr/>
          <p:nvPr/>
        </p:nvSpPr>
        <p:spPr>
          <a:xfrm>
            <a:off x="1504950" y="5505450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Provides a valuable tool for personalized chemotherapy selection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1504950" y="6115050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Supports precision oncology through objective prediction of drug response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1504950" y="6724650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Offers new biological insights into drug resistance mechanisms</a:t>
            </a:r>
            <a:endParaRPr lang="en-US" sz="1350" dirty="0"/>
          </a:p>
        </p:txBody>
      </p:sp>
      <p:sp>
        <p:nvSpPr>
          <p:cNvPr id="44" name="Text 13"/>
          <p:cNvSpPr/>
          <p:nvPr/>
        </p:nvSpPr>
        <p:spPr>
          <a:xfrm>
            <a:off x="7105650" y="4772025"/>
            <a:ext cx="269015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45" name="Text 14"/>
          <p:cNvSpPr/>
          <p:nvPr/>
        </p:nvSpPr>
        <p:spPr>
          <a:xfrm>
            <a:off x="7105650" y="550545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Further validate in larger clinical cohorts</a:t>
            </a:r>
            <a:endParaRPr lang="en-US" sz="1350" dirty="0"/>
          </a:p>
        </p:txBody>
      </p:sp>
      <p:sp>
        <p:nvSpPr>
          <p:cNvPr id="46" name="Text 15"/>
          <p:cNvSpPr/>
          <p:nvPr/>
        </p:nvSpPr>
        <p:spPr>
          <a:xfrm>
            <a:off x="7105650" y="5848350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Explore functional mechanisms of identified genes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7105650" y="6457950"/>
            <a:ext cx="4495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Integrate with clinical decision support systems</a:t>
            </a:r>
            <a:endParaRPr lang="en-US" sz="1350" dirty="0"/>
          </a:p>
        </p:txBody>
      </p:sp>
      <p:sp>
        <p:nvSpPr>
          <p:cNvPr id="48" name="Text 17"/>
          <p:cNvSpPr/>
          <p:nvPr/>
        </p:nvSpPr>
        <p:spPr>
          <a:xfrm>
            <a:off x="11407378" y="727710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20/21</a:t>
            </a:r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52500"/>
            <a:ext cx="11277600" cy="1485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143000"/>
            <a:ext cx="333375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1338263"/>
            <a:ext cx="142875" cy="9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590800"/>
            <a:ext cx="11277600" cy="2933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162300"/>
            <a:ext cx="53721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162300"/>
            <a:ext cx="361950" cy="419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3357563"/>
            <a:ext cx="171450" cy="9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3162300"/>
            <a:ext cx="53721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3162300"/>
            <a:ext cx="361950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7450" y="3357563"/>
            <a:ext cx="171450" cy="95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457700"/>
            <a:ext cx="53721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4457700"/>
            <a:ext cx="381000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4652963"/>
            <a:ext cx="190500" cy="95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4457700"/>
            <a:ext cx="36195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67450" y="4652963"/>
            <a:ext cx="171450" cy="95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References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1123950" y="1143000"/>
            <a:ext cx="10420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Article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123950" y="1409700"/>
            <a:ext cx="10420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Chen, J., Yi, Y., Yang, C., Ying, H., Zhang, J., Lin, A., &amp; Wei, T. (2025). Integrative machine learning approach for forecasting lung cancer chemosensitivity: From algorithm to cell line validation. </a:t>
            </a: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Computational and Structural Biotechnology Journal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23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10.1016/j.csbj.2025.07.043.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647700" y="278130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Data Sources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1152525" y="3162300"/>
            <a:ext cx="48672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Genomics of Drug Sensitivity in Cancer (GDSC) Database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152525" y="3695700"/>
            <a:ext cx="48672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Provided RNA-seq data and drug IC50 values for cell lines, including GDSC1 and GDSC2 datasets used for model training.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6677025" y="3162300"/>
            <a:ext cx="58407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 Expression Omnibus (GEO) Database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6677025" y="3429000"/>
            <a:ext cx="48672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datasets containing cell line RNA-seq data and drug sensitivity data (e.g., GSE106609, GSE116192, GSE162256, etc.) for model validation.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1171575" y="4457700"/>
            <a:ext cx="5817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Analysis Tools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1171575" y="4724400"/>
            <a:ext cx="4848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 software (version 4.3.0) and Python programming language (version 3.9.5) with specific packages for data analysis and visualization.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6677025" y="4457700"/>
            <a:ext cx="4867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Experimental Validation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6677025" y="4724400"/>
            <a:ext cx="48672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Cell line experimental data analysis using GraphPad Prism software (version 9.0) for fitting drug concentration-cell viability curves.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11407378" y="6496050"/>
            <a:ext cx="57578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21/21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2058</Words>
  <Application>Microsoft Office PowerPoint</Application>
  <PresentationFormat>Widescreen</PresentationFormat>
  <Paragraphs>339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sudarshan s</cp:lastModifiedBy>
  <cp:revision>3</cp:revision>
  <dcterms:created xsi:type="dcterms:W3CDTF">2025-10-26T11:53:31Z</dcterms:created>
  <dcterms:modified xsi:type="dcterms:W3CDTF">2025-11-18T18:38:21Z</dcterms:modified>
</cp:coreProperties>
</file>